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g"/>
  <Override PartName="/ppt/media/image4.jpg" ContentType="image/jpg"/>
  <Override PartName="/ppt/media/image7.jpg" ContentType="image/jpg"/>
  <Override PartName="/ppt/media/image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7" r:id="rId12"/>
  </p:sldIdLst>
  <p:sldSz cx="11430000" cy="8458200"/>
  <p:notesSz cx="11430000" cy="8458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42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FD9B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FD9B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FD9B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FD9B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FD9B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FD9B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79" y="454025"/>
            <a:ext cx="10180241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FD9B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11128" y="1530350"/>
            <a:ext cx="5537200" cy="1606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FD9B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06214"/>
            <a:ext cx="6096000" cy="615553"/>
          </a:xfrm>
        </p:spPr>
        <p:txBody>
          <a:bodyPr/>
          <a:lstStyle/>
          <a:p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</a:rPr>
              <a:t>    EMOTION ANALYZER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457200" y="2857500"/>
            <a:ext cx="3352800" cy="5155257"/>
          </a:xfrm>
        </p:spPr>
        <p:txBody>
          <a:bodyPr/>
          <a:lstStyle/>
          <a:p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Presented by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Kapil dev</a:t>
            </a: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Ravi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kumar</a:t>
            </a: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Teesha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kumari</a:t>
            </a: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Kantesh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7636"/>
            <a:ext cx="5310996" cy="829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01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438" y="0"/>
            <a:ext cx="11430000" cy="84582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13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2683" y="157200"/>
            <a:ext cx="4286250" cy="81105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474" y="1530350"/>
            <a:ext cx="6987209" cy="4016484"/>
          </a:xfrm>
        </p:spPr>
        <p:txBody>
          <a:bodyPr/>
          <a:lstStyle/>
          <a:p>
            <a:r>
              <a:rPr lang="en-US" dirty="0" smtClean="0"/>
              <a:t>                   Introduction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z="2000" dirty="0"/>
              <a:t>An </a:t>
            </a:r>
            <a:r>
              <a:rPr lang="en-US" sz="2000" b="1" dirty="0"/>
              <a:t>Emotion Analyzer</a:t>
            </a:r>
            <a:r>
              <a:rPr lang="en-US" sz="2000" dirty="0"/>
              <a:t> is a system or tool that uses </a:t>
            </a:r>
            <a:r>
              <a:rPr lang="en-US" sz="2000" b="1" dirty="0"/>
              <a:t>Artificial Intelligence (AI)</a:t>
            </a:r>
            <a:r>
              <a:rPr lang="en-US" sz="2000" dirty="0"/>
              <a:t> and </a:t>
            </a:r>
            <a:r>
              <a:rPr lang="en-US" sz="2000" b="1" dirty="0"/>
              <a:t>Natural Language Processing (NLP)</a:t>
            </a:r>
            <a:r>
              <a:rPr lang="en-US" sz="2000" dirty="0"/>
              <a:t> to detect and interpret human emotions from various data sources such as </a:t>
            </a:r>
            <a:r>
              <a:rPr lang="en-US" sz="2000" b="1" dirty="0"/>
              <a:t>text, speech, facial expressions, or physiological signals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235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13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4879" y="1406525"/>
            <a:ext cx="577977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60" dirty="0"/>
              <a:t>The</a:t>
            </a:r>
            <a:r>
              <a:rPr spc="-10" dirty="0"/>
              <a:t> </a:t>
            </a:r>
            <a:r>
              <a:rPr spc="185" dirty="0"/>
              <a:t>Science</a:t>
            </a:r>
            <a:r>
              <a:rPr spc="-10" dirty="0"/>
              <a:t> </a:t>
            </a:r>
            <a:r>
              <a:rPr spc="175" dirty="0"/>
              <a:t>Behind</a:t>
            </a:r>
            <a:r>
              <a:rPr spc="-10" dirty="0"/>
              <a:t> </a:t>
            </a:r>
            <a:r>
              <a:rPr spc="195" dirty="0"/>
              <a:t>Emotions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4879" y="2411412"/>
            <a:ext cx="214312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70" dirty="0">
                <a:solidFill>
                  <a:srgbClr val="FFD9BD"/>
                </a:solidFill>
                <a:latin typeface="Times New Roman"/>
                <a:cs typeface="Times New Roman"/>
              </a:rPr>
              <a:t>Universal</a:t>
            </a:r>
            <a:r>
              <a:rPr sz="1650" spc="30" dirty="0">
                <a:solidFill>
                  <a:srgbClr val="FFD9BD"/>
                </a:solidFill>
                <a:latin typeface="Times New Roman"/>
                <a:cs typeface="Times New Roman"/>
              </a:rPr>
              <a:t> </a:t>
            </a:r>
            <a:r>
              <a:rPr sz="1650" spc="90" dirty="0">
                <a:solidFill>
                  <a:srgbClr val="FFD9BD"/>
                </a:solidFill>
                <a:latin typeface="Times New Roman"/>
                <a:cs typeface="Times New Roman"/>
              </a:rPr>
              <a:t>Expressions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879" y="2833598"/>
            <a:ext cx="2943860" cy="8921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55"/>
              </a:spcBef>
            </a:pPr>
            <a:r>
              <a:rPr sz="1400" spc="120" dirty="0">
                <a:solidFill>
                  <a:srgbClr val="F9EEE7"/>
                </a:solidFill>
                <a:latin typeface="Times New Roman"/>
                <a:cs typeface="Times New Roman"/>
              </a:rPr>
              <a:t>Humans</a:t>
            </a:r>
            <a:r>
              <a:rPr sz="1400" spc="2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share</a:t>
            </a:r>
            <a:r>
              <a:rPr sz="1400" spc="2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six</a:t>
            </a:r>
            <a:r>
              <a:rPr sz="1400" spc="2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basic</a:t>
            </a:r>
            <a:r>
              <a:rPr sz="1400" spc="3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emotions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across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cultures: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happiness,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sadness, </a:t>
            </a: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anger,</a:t>
            </a:r>
            <a:r>
              <a:rPr sz="1400" spc="5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fear,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disgust,</a:t>
            </a:r>
            <a:r>
              <a:rPr sz="1400" spc="5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and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surprise.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513" y="3871823"/>
            <a:ext cx="2775585" cy="8921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55"/>
              </a:spcBef>
            </a:pP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These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emotions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create</a:t>
            </a:r>
            <a:r>
              <a:rPr sz="1400" spc="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distinctive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facial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muscle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25" dirty="0">
                <a:solidFill>
                  <a:srgbClr val="F9EEE7"/>
                </a:solidFill>
                <a:latin typeface="Times New Roman"/>
                <a:cs typeface="Times New Roman"/>
              </a:rPr>
              <a:t>movements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called </a:t>
            </a: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Action</a:t>
            </a:r>
            <a:r>
              <a:rPr sz="1400" spc="-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9EEE7"/>
                </a:solidFill>
                <a:latin typeface="Times New Roman"/>
                <a:cs typeface="Times New Roman"/>
              </a:rPr>
              <a:t>Units.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66565" y="2411412"/>
            <a:ext cx="139763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FFD9BD"/>
                </a:solidFill>
                <a:latin typeface="Times New Roman"/>
                <a:cs typeface="Times New Roman"/>
              </a:rPr>
              <a:t>Voice</a:t>
            </a:r>
            <a:r>
              <a:rPr sz="1650" spc="220" dirty="0">
                <a:solidFill>
                  <a:srgbClr val="FFD9BD"/>
                </a:solidFill>
                <a:latin typeface="Times New Roman"/>
                <a:cs typeface="Times New Roman"/>
              </a:rPr>
              <a:t> </a:t>
            </a:r>
            <a:r>
              <a:rPr sz="1650" spc="90" dirty="0">
                <a:solidFill>
                  <a:srgbClr val="FFD9BD"/>
                </a:solidFill>
                <a:latin typeface="Times New Roman"/>
                <a:cs typeface="Times New Roman"/>
              </a:rPr>
              <a:t>Patterns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6628" y="2833598"/>
            <a:ext cx="3095625" cy="8921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635">
              <a:lnSpc>
                <a:spcPct val="136200"/>
              </a:lnSpc>
              <a:spcBef>
                <a:spcPts val="55"/>
              </a:spcBef>
            </a:pP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Vocal</a:t>
            </a:r>
            <a:r>
              <a:rPr sz="1400" spc="4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biomarkers</a:t>
            </a:r>
            <a:r>
              <a:rPr sz="1400" spc="5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like</a:t>
            </a:r>
            <a:r>
              <a:rPr sz="1400" spc="5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pitch,</a:t>
            </a:r>
            <a:r>
              <a:rPr sz="1400" spc="5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tone,</a:t>
            </a:r>
            <a:r>
              <a:rPr sz="1400" spc="4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and </a:t>
            </a:r>
            <a:r>
              <a:rPr sz="1400" spc="120" dirty="0">
                <a:solidFill>
                  <a:srgbClr val="F9EEE7"/>
                </a:solidFill>
                <a:latin typeface="Times New Roman"/>
                <a:cs typeface="Times New Roman"/>
              </a:rPr>
              <a:t>rhythm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reveal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emotional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states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regardless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of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9EEE7"/>
                </a:solidFill>
                <a:latin typeface="Times New Roman"/>
                <a:cs typeface="Times New Roman"/>
              </a:rPr>
              <a:t>language.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6994" y="3871823"/>
            <a:ext cx="2849245" cy="8921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55"/>
              </a:spcBef>
            </a:pP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Micro-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variations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in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4" dirty="0">
                <a:solidFill>
                  <a:srgbClr val="F9EEE7"/>
                </a:solidFill>
                <a:latin typeface="Times New Roman"/>
                <a:cs typeface="Times New Roman"/>
              </a:rPr>
              <a:t>speech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can </a:t>
            </a: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expose</a:t>
            </a:r>
            <a:r>
              <a:rPr sz="1400" spc="-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20" dirty="0">
                <a:solidFill>
                  <a:srgbClr val="F9EEE7"/>
                </a:solidFill>
                <a:latin typeface="Times New Roman"/>
                <a:cs typeface="Times New Roman"/>
              </a:rPr>
              <a:t>hidden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feelings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even</a:t>
            </a:r>
            <a:r>
              <a:rPr sz="1400" spc="-4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25" dirty="0">
                <a:solidFill>
                  <a:srgbClr val="F9EEE7"/>
                </a:solidFill>
                <a:latin typeface="Times New Roman"/>
                <a:cs typeface="Times New Roman"/>
              </a:rPr>
              <a:t>when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faces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4" dirty="0">
                <a:solidFill>
                  <a:srgbClr val="F9EEE7"/>
                </a:solidFill>
                <a:latin typeface="Times New Roman"/>
                <a:cs typeface="Times New Roman"/>
              </a:rPr>
              <a:t>remain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neutral.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4775" y="2476500"/>
            <a:ext cx="3086099" cy="21145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458200"/>
          </a:xfrm>
          <a:custGeom>
            <a:avLst/>
            <a:gdLst/>
            <a:ahLst/>
            <a:cxnLst/>
            <a:rect l="l" t="t" r="r" b="b"/>
            <a:pathLst>
              <a:path w="11430000" h="8458200">
                <a:moveTo>
                  <a:pt x="11430000" y="0"/>
                </a:moveTo>
                <a:lnTo>
                  <a:pt x="0" y="0"/>
                </a:lnTo>
                <a:lnTo>
                  <a:pt x="0" y="8458200"/>
                </a:lnTo>
                <a:lnTo>
                  <a:pt x="11430000" y="84582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13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2764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4879" y="2730500"/>
            <a:ext cx="584898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00" dirty="0"/>
              <a:t>How</a:t>
            </a:r>
            <a:r>
              <a:rPr spc="-105" dirty="0"/>
              <a:t> </a:t>
            </a:r>
            <a:r>
              <a:rPr spc="210" dirty="0"/>
              <a:t>Emotion</a:t>
            </a:r>
            <a:r>
              <a:rPr spc="-150" dirty="0"/>
              <a:t> </a:t>
            </a:r>
            <a:r>
              <a:rPr spc="140" dirty="0"/>
              <a:t>Analyzers</a:t>
            </a:r>
            <a:r>
              <a:rPr spc="-150" dirty="0"/>
              <a:t> </a:t>
            </a:r>
            <a:r>
              <a:rPr spc="204" dirty="0"/>
              <a:t>Work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5" y="3590925"/>
            <a:ext cx="910831" cy="436959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08530" y="3735387"/>
            <a:ext cx="6373495" cy="39338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75" dirty="0">
                <a:solidFill>
                  <a:srgbClr val="F9EEE7"/>
                </a:solidFill>
                <a:latin typeface="Times New Roman"/>
                <a:cs typeface="Times New Roman"/>
              </a:rPr>
              <a:t>Data</a:t>
            </a:r>
            <a:r>
              <a:rPr sz="1650" spc="-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650" spc="65" dirty="0">
                <a:solidFill>
                  <a:srgbClr val="F9EEE7"/>
                </a:solidFill>
                <a:latin typeface="Times New Roman"/>
                <a:cs typeface="Times New Roman"/>
              </a:rPr>
              <a:t>Collection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Cameras</a:t>
            </a:r>
            <a:r>
              <a:rPr sz="1400" spc="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capture</a:t>
            </a:r>
            <a:r>
              <a:rPr sz="1400" spc="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facial</a:t>
            </a:r>
            <a:r>
              <a:rPr sz="1400" spc="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expressions</a:t>
            </a:r>
            <a:r>
              <a:rPr sz="1400" spc="-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while</a:t>
            </a:r>
            <a:r>
              <a:rPr sz="1400" spc="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20" dirty="0">
                <a:solidFill>
                  <a:srgbClr val="F9EEE7"/>
                </a:solidFill>
                <a:latin typeface="Times New Roman"/>
                <a:cs typeface="Times New Roman"/>
              </a:rPr>
              <a:t>microphones</a:t>
            </a:r>
            <a:r>
              <a:rPr sz="1400" spc="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4" dirty="0">
                <a:solidFill>
                  <a:srgbClr val="F9EEE7"/>
                </a:solidFill>
                <a:latin typeface="Times New Roman"/>
                <a:cs typeface="Times New Roman"/>
              </a:rPr>
              <a:t>record</a:t>
            </a:r>
            <a:r>
              <a:rPr sz="1400" spc="-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voice</a:t>
            </a:r>
            <a:r>
              <a:rPr sz="1400" spc="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patterns.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95" dirty="0">
                <a:solidFill>
                  <a:srgbClr val="F9EEE7"/>
                </a:solidFill>
                <a:latin typeface="Times New Roman"/>
                <a:cs typeface="Times New Roman"/>
              </a:rPr>
              <a:t>Feature</a:t>
            </a:r>
            <a:r>
              <a:rPr sz="165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650" spc="75" dirty="0">
                <a:solidFill>
                  <a:srgbClr val="F9EEE7"/>
                </a:solidFill>
                <a:latin typeface="Times New Roman"/>
                <a:cs typeface="Times New Roman"/>
              </a:rPr>
              <a:t>Extraction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AI</a:t>
            </a:r>
            <a:r>
              <a:rPr sz="1400" spc="5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identifies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key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facial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points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and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vocal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characteristics.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45" dirty="0">
                <a:solidFill>
                  <a:srgbClr val="F9EEE7"/>
                </a:solidFill>
                <a:latin typeface="Times New Roman"/>
                <a:cs typeface="Times New Roman"/>
              </a:rPr>
              <a:t>Analysis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Machine</a:t>
            </a:r>
            <a:r>
              <a:rPr sz="1400" spc="-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learning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algorithms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25" dirty="0">
                <a:solidFill>
                  <a:srgbClr val="F9EEE7"/>
                </a:solidFill>
                <a:latin typeface="Times New Roman"/>
                <a:cs typeface="Times New Roman"/>
              </a:rPr>
              <a:t>compare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patterns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to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emotional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databases.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105" dirty="0">
                <a:solidFill>
                  <a:srgbClr val="F9EEE7"/>
                </a:solidFill>
                <a:latin typeface="Times New Roman"/>
                <a:cs typeface="Times New Roman"/>
              </a:rPr>
              <a:t>Interpretation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Results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display</a:t>
            </a:r>
            <a:r>
              <a:rPr sz="1400" spc="-3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emotional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states</a:t>
            </a:r>
            <a:r>
              <a:rPr sz="1400" spc="-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with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confidence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scores.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124700"/>
          </a:xfrm>
          <a:custGeom>
            <a:avLst/>
            <a:gdLst/>
            <a:ahLst/>
            <a:cxnLst/>
            <a:rect l="l" t="t" r="r" b="b"/>
            <a:pathLst>
              <a:path w="11430000" h="7124700">
                <a:moveTo>
                  <a:pt x="11430000" y="0"/>
                </a:moveTo>
                <a:lnTo>
                  <a:pt x="0" y="0"/>
                </a:lnTo>
                <a:lnTo>
                  <a:pt x="0" y="7124700"/>
                </a:lnTo>
                <a:lnTo>
                  <a:pt x="11430000" y="7124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13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" dirty="0"/>
              <a:t>Key</a:t>
            </a:r>
            <a:r>
              <a:rPr spc="-245" dirty="0"/>
              <a:t> </a:t>
            </a:r>
            <a:r>
              <a:rPr spc="145" dirty="0"/>
              <a:t>Applications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69311" y="3574186"/>
            <a:ext cx="2985135" cy="2985135"/>
            <a:chOff x="2669311" y="3574186"/>
            <a:chExt cx="2985135" cy="2985135"/>
          </a:xfrm>
        </p:grpSpPr>
        <p:sp>
          <p:nvSpPr>
            <p:cNvPr id="5" name="object 5"/>
            <p:cNvSpPr/>
            <p:nvPr/>
          </p:nvSpPr>
          <p:spPr>
            <a:xfrm>
              <a:off x="2669311" y="4533074"/>
              <a:ext cx="1903730" cy="2026285"/>
            </a:xfrm>
            <a:custGeom>
              <a:avLst/>
              <a:gdLst/>
              <a:ahLst/>
              <a:cxnLst/>
              <a:rect l="l" t="t" r="r" b="b"/>
              <a:pathLst>
                <a:path w="1903729" h="2026284">
                  <a:moveTo>
                    <a:pt x="852525" y="0"/>
                  </a:moveTo>
                  <a:lnTo>
                    <a:pt x="810704" y="13957"/>
                  </a:lnTo>
                  <a:lnTo>
                    <a:pt x="768813" y="59469"/>
                  </a:lnTo>
                  <a:lnTo>
                    <a:pt x="733485" y="99862"/>
                  </a:lnTo>
                  <a:lnTo>
                    <a:pt x="698877" y="140865"/>
                  </a:lnTo>
                  <a:lnTo>
                    <a:pt x="664990" y="182478"/>
                  </a:lnTo>
                  <a:lnTo>
                    <a:pt x="631825" y="224701"/>
                  </a:lnTo>
                  <a:lnTo>
                    <a:pt x="599414" y="267501"/>
                  </a:lnTo>
                  <a:lnTo>
                    <a:pt x="567775" y="310845"/>
                  </a:lnTo>
                  <a:lnTo>
                    <a:pt x="536908" y="354735"/>
                  </a:lnTo>
                  <a:lnTo>
                    <a:pt x="506814" y="399168"/>
                  </a:lnTo>
                  <a:lnTo>
                    <a:pt x="477494" y="444144"/>
                  </a:lnTo>
                  <a:lnTo>
                    <a:pt x="448971" y="489629"/>
                  </a:lnTo>
                  <a:lnTo>
                    <a:pt x="421267" y="535589"/>
                  </a:lnTo>
                  <a:lnTo>
                    <a:pt x="394382" y="582024"/>
                  </a:lnTo>
                  <a:lnTo>
                    <a:pt x="368314" y="628932"/>
                  </a:lnTo>
                  <a:lnTo>
                    <a:pt x="343065" y="676313"/>
                  </a:lnTo>
                  <a:lnTo>
                    <a:pt x="318653" y="724136"/>
                  </a:lnTo>
                  <a:lnTo>
                    <a:pt x="295100" y="772357"/>
                  </a:lnTo>
                  <a:lnTo>
                    <a:pt x="272403" y="820976"/>
                  </a:lnTo>
                  <a:lnTo>
                    <a:pt x="250563" y="869996"/>
                  </a:lnTo>
                  <a:lnTo>
                    <a:pt x="229577" y="919416"/>
                  </a:lnTo>
                  <a:lnTo>
                    <a:pt x="209471" y="969198"/>
                  </a:lnTo>
                  <a:lnTo>
                    <a:pt x="190254" y="1019301"/>
                  </a:lnTo>
                  <a:lnTo>
                    <a:pt x="171926" y="1069729"/>
                  </a:lnTo>
                  <a:lnTo>
                    <a:pt x="154486" y="1120482"/>
                  </a:lnTo>
                  <a:lnTo>
                    <a:pt x="137934" y="1171562"/>
                  </a:lnTo>
                  <a:lnTo>
                    <a:pt x="122283" y="1222914"/>
                  </a:lnTo>
                  <a:lnTo>
                    <a:pt x="107545" y="1274513"/>
                  </a:lnTo>
                  <a:lnTo>
                    <a:pt x="93720" y="1326358"/>
                  </a:lnTo>
                  <a:lnTo>
                    <a:pt x="80808" y="1378447"/>
                  </a:lnTo>
                  <a:lnTo>
                    <a:pt x="68808" y="1430782"/>
                  </a:lnTo>
                  <a:lnTo>
                    <a:pt x="57738" y="1483316"/>
                  </a:lnTo>
                  <a:lnTo>
                    <a:pt x="47599" y="1536013"/>
                  </a:lnTo>
                  <a:lnTo>
                    <a:pt x="38392" y="1588873"/>
                  </a:lnTo>
                  <a:lnTo>
                    <a:pt x="30116" y="1641896"/>
                  </a:lnTo>
                  <a:lnTo>
                    <a:pt x="22771" y="1695080"/>
                  </a:lnTo>
                  <a:lnTo>
                    <a:pt x="16367" y="1748386"/>
                  </a:lnTo>
                  <a:lnTo>
                    <a:pt x="10903" y="1801772"/>
                  </a:lnTo>
                  <a:lnTo>
                    <a:pt x="6381" y="1855237"/>
                  </a:lnTo>
                  <a:lnTo>
                    <a:pt x="2801" y="1908783"/>
                  </a:lnTo>
                  <a:lnTo>
                    <a:pt x="165" y="1962410"/>
                  </a:lnTo>
                  <a:lnTo>
                    <a:pt x="0" y="1966508"/>
                  </a:lnTo>
                  <a:lnTo>
                    <a:pt x="254" y="1970586"/>
                  </a:lnTo>
                  <a:lnTo>
                    <a:pt x="19939" y="2010031"/>
                  </a:lnTo>
                  <a:lnTo>
                    <a:pt x="56946" y="2025792"/>
                  </a:lnTo>
                  <a:lnTo>
                    <a:pt x="61048" y="2025792"/>
                  </a:lnTo>
                  <a:lnTo>
                    <a:pt x="1472234" y="2025792"/>
                  </a:lnTo>
                  <a:lnTo>
                    <a:pt x="1511604" y="2004335"/>
                  </a:lnTo>
                  <a:lnTo>
                    <a:pt x="1525308" y="1969495"/>
                  </a:lnTo>
                  <a:lnTo>
                    <a:pt x="1529736" y="1921420"/>
                  </a:lnTo>
                  <a:lnTo>
                    <a:pt x="1535676" y="1873581"/>
                  </a:lnTo>
                  <a:lnTo>
                    <a:pt x="1543127" y="1825979"/>
                  </a:lnTo>
                  <a:lnTo>
                    <a:pt x="1552087" y="1778613"/>
                  </a:lnTo>
                  <a:lnTo>
                    <a:pt x="1562557" y="1731483"/>
                  </a:lnTo>
                  <a:lnTo>
                    <a:pt x="1574508" y="1684710"/>
                  </a:lnTo>
                  <a:lnTo>
                    <a:pt x="1587913" y="1638407"/>
                  </a:lnTo>
                  <a:lnTo>
                    <a:pt x="1602772" y="1592576"/>
                  </a:lnTo>
                  <a:lnTo>
                    <a:pt x="1619085" y="1547216"/>
                  </a:lnTo>
                  <a:lnTo>
                    <a:pt x="1636852" y="1502328"/>
                  </a:lnTo>
                  <a:lnTo>
                    <a:pt x="1656033" y="1458021"/>
                  </a:lnTo>
                  <a:lnTo>
                    <a:pt x="1676573" y="1414409"/>
                  </a:lnTo>
                  <a:lnTo>
                    <a:pt x="1698473" y="1371492"/>
                  </a:lnTo>
                  <a:lnTo>
                    <a:pt x="1721732" y="1329270"/>
                  </a:lnTo>
                  <a:lnTo>
                    <a:pt x="1746351" y="1287741"/>
                  </a:lnTo>
                  <a:lnTo>
                    <a:pt x="1772274" y="1247014"/>
                  </a:lnTo>
                  <a:lnTo>
                    <a:pt x="1799432" y="1207188"/>
                  </a:lnTo>
                  <a:lnTo>
                    <a:pt x="1827824" y="1168263"/>
                  </a:lnTo>
                  <a:lnTo>
                    <a:pt x="1857451" y="1130239"/>
                  </a:lnTo>
                  <a:lnTo>
                    <a:pt x="1888312" y="1093114"/>
                  </a:lnTo>
                  <a:lnTo>
                    <a:pt x="1893328" y="1087285"/>
                  </a:lnTo>
                  <a:lnTo>
                    <a:pt x="1897087" y="1080744"/>
                  </a:lnTo>
                  <a:lnTo>
                    <a:pt x="1902142" y="1066241"/>
                  </a:lnTo>
                  <a:lnTo>
                    <a:pt x="1903260" y="1058786"/>
                  </a:lnTo>
                  <a:lnTo>
                    <a:pt x="1902675" y="1043444"/>
                  </a:lnTo>
                  <a:lnTo>
                    <a:pt x="889838" y="15011"/>
                  </a:lnTo>
                  <a:lnTo>
                    <a:pt x="856589" y="330"/>
                  </a:lnTo>
                  <a:lnTo>
                    <a:pt x="852525" y="0"/>
                  </a:lnTo>
                  <a:close/>
                </a:path>
              </a:pathLst>
            </a:custGeom>
            <a:solidFill>
              <a:srgbClr val="3051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48938" y="5593338"/>
              <a:ext cx="304800" cy="303530"/>
            </a:xfrm>
            <a:custGeom>
              <a:avLst/>
              <a:gdLst/>
              <a:ahLst/>
              <a:cxnLst/>
              <a:rect l="l" t="t" r="r" b="b"/>
              <a:pathLst>
                <a:path w="304800" h="303529">
                  <a:moveTo>
                    <a:pt x="115252" y="0"/>
                  </a:moveTo>
                  <a:lnTo>
                    <a:pt x="99043" y="2540"/>
                  </a:lnTo>
                  <a:lnTo>
                    <a:pt x="85190" y="10160"/>
                  </a:lnTo>
                  <a:lnTo>
                    <a:pt x="74677" y="21590"/>
                  </a:lnTo>
                  <a:lnTo>
                    <a:pt x="68491" y="36830"/>
                  </a:lnTo>
                  <a:lnTo>
                    <a:pt x="56344" y="43180"/>
                  </a:lnTo>
                  <a:lnTo>
                    <a:pt x="46834" y="53340"/>
                  </a:lnTo>
                  <a:lnTo>
                    <a:pt x="40634" y="66040"/>
                  </a:lnTo>
                  <a:lnTo>
                    <a:pt x="38417" y="81280"/>
                  </a:lnTo>
                  <a:lnTo>
                    <a:pt x="38417" y="82550"/>
                  </a:lnTo>
                  <a:lnTo>
                    <a:pt x="28618" y="90170"/>
                  </a:lnTo>
                  <a:lnTo>
                    <a:pt x="21039" y="100330"/>
                  </a:lnTo>
                  <a:lnTo>
                    <a:pt x="16148" y="111760"/>
                  </a:lnTo>
                  <a:lnTo>
                    <a:pt x="14414" y="124460"/>
                  </a:lnTo>
                  <a:lnTo>
                    <a:pt x="14511" y="128270"/>
                  </a:lnTo>
                  <a:lnTo>
                    <a:pt x="14706" y="130810"/>
                  </a:lnTo>
                  <a:lnTo>
                    <a:pt x="15252" y="133350"/>
                  </a:lnTo>
                  <a:lnTo>
                    <a:pt x="8867" y="140970"/>
                  </a:lnTo>
                  <a:lnTo>
                    <a:pt x="4068" y="151130"/>
                  </a:lnTo>
                  <a:lnTo>
                    <a:pt x="1049" y="161290"/>
                  </a:lnTo>
                  <a:lnTo>
                    <a:pt x="0" y="172720"/>
                  </a:lnTo>
                  <a:lnTo>
                    <a:pt x="1474" y="185420"/>
                  </a:lnTo>
                  <a:lnTo>
                    <a:pt x="5673" y="196850"/>
                  </a:lnTo>
                  <a:lnTo>
                    <a:pt x="12258" y="208280"/>
                  </a:lnTo>
                  <a:lnTo>
                    <a:pt x="20891" y="217170"/>
                  </a:lnTo>
                  <a:lnTo>
                    <a:pt x="19811" y="220980"/>
                  </a:lnTo>
                  <a:lnTo>
                    <a:pt x="19215" y="224790"/>
                  </a:lnTo>
                  <a:lnTo>
                    <a:pt x="19215" y="229870"/>
                  </a:lnTo>
                  <a:lnTo>
                    <a:pt x="23365" y="250190"/>
                  </a:lnTo>
                  <a:lnTo>
                    <a:pt x="34685" y="266700"/>
                  </a:lnTo>
                  <a:lnTo>
                    <a:pt x="51474" y="278130"/>
                  </a:lnTo>
                  <a:lnTo>
                    <a:pt x="72034" y="283210"/>
                  </a:lnTo>
                  <a:lnTo>
                    <a:pt x="73659" y="283210"/>
                  </a:lnTo>
                  <a:lnTo>
                    <a:pt x="81153" y="292100"/>
                  </a:lnTo>
                  <a:lnTo>
                    <a:pt x="90898" y="299720"/>
                  </a:lnTo>
                  <a:lnTo>
                    <a:pt x="100547" y="303530"/>
                  </a:lnTo>
                  <a:lnTo>
                    <a:pt x="129790" y="303530"/>
                  </a:lnTo>
                  <a:lnTo>
                    <a:pt x="137071" y="300990"/>
                  </a:lnTo>
                  <a:lnTo>
                    <a:pt x="146181" y="295910"/>
                  </a:lnTo>
                  <a:lnTo>
                    <a:pt x="153669" y="287020"/>
                  </a:lnTo>
                  <a:lnTo>
                    <a:pt x="115252" y="287020"/>
                  </a:lnTo>
                  <a:lnTo>
                    <a:pt x="106468" y="285750"/>
                  </a:lnTo>
                  <a:lnTo>
                    <a:pt x="98771" y="281940"/>
                  </a:lnTo>
                  <a:lnTo>
                    <a:pt x="92592" y="276860"/>
                  </a:lnTo>
                  <a:lnTo>
                    <a:pt x="88366" y="269240"/>
                  </a:lnTo>
                  <a:lnTo>
                    <a:pt x="86740" y="264160"/>
                  </a:lnTo>
                  <a:lnTo>
                    <a:pt x="84518" y="262890"/>
                  </a:lnTo>
                  <a:lnTo>
                    <a:pt x="72097" y="262890"/>
                  </a:lnTo>
                  <a:lnTo>
                    <a:pt x="59017" y="260350"/>
                  </a:lnTo>
                  <a:lnTo>
                    <a:pt x="48331" y="254000"/>
                  </a:lnTo>
                  <a:lnTo>
                    <a:pt x="41124" y="242570"/>
                  </a:lnTo>
                  <a:lnTo>
                    <a:pt x="38480" y="229870"/>
                  </a:lnTo>
                  <a:lnTo>
                    <a:pt x="38480" y="224790"/>
                  </a:lnTo>
                  <a:lnTo>
                    <a:pt x="39433" y="220980"/>
                  </a:lnTo>
                  <a:lnTo>
                    <a:pt x="42976" y="212090"/>
                  </a:lnTo>
                  <a:lnTo>
                    <a:pt x="41363" y="207010"/>
                  </a:lnTo>
                  <a:lnTo>
                    <a:pt x="19215" y="172720"/>
                  </a:lnTo>
                  <a:lnTo>
                    <a:pt x="20127" y="163830"/>
                  </a:lnTo>
                  <a:lnTo>
                    <a:pt x="22732" y="156210"/>
                  </a:lnTo>
                  <a:lnTo>
                    <a:pt x="26833" y="149860"/>
                  </a:lnTo>
                  <a:lnTo>
                    <a:pt x="32232" y="143510"/>
                  </a:lnTo>
                  <a:lnTo>
                    <a:pt x="35115" y="140970"/>
                  </a:lnTo>
                  <a:lnTo>
                    <a:pt x="36194" y="137160"/>
                  </a:lnTo>
                  <a:lnTo>
                    <a:pt x="34099" y="130810"/>
                  </a:lnTo>
                  <a:lnTo>
                    <a:pt x="33566" y="127000"/>
                  </a:lnTo>
                  <a:lnTo>
                    <a:pt x="33566" y="124460"/>
                  </a:lnTo>
                  <a:lnTo>
                    <a:pt x="34934" y="115570"/>
                  </a:lnTo>
                  <a:lnTo>
                    <a:pt x="38760" y="107950"/>
                  </a:lnTo>
                  <a:lnTo>
                    <a:pt x="44624" y="101600"/>
                  </a:lnTo>
                  <a:lnTo>
                    <a:pt x="52108" y="97790"/>
                  </a:lnTo>
                  <a:lnTo>
                    <a:pt x="56489" y="95250"/>
                  </a:lnTo>
                  <a:lnTo>
                    <a:pt x="59004" y="91440"/>
                  </a:lnTo>
                  <a:lnTo>
                    <a:pt x="57746" y="85090"/>
                  </a:lnTo>
                  <a:lnTo>
                    <a:pt x="57569" y="82550"/>
                  </a:lnTo>
                  <a:lnTo>
                    <a:pt x="57569" y="81280"/>
                  </a:lnTo>
                  <a:lnTo>
                    <a:pt x="59208" y="71120"/>
                  </a:lnTo>
                  <a:lnTo>
                    <a:pt x="63752" y="63500"/>
                  </a:lnTo>
                  <a:lnTo>
                    <a:pt x="70636" y="57150"/>
                  </a:lnTo>
                  <a:lnTo>
                    <a:pt x="79298" y="53340"/>
                  </a:lnTo>
                  <a:lnTo>
                    <a:pt x="83261" y="52070"/>
                  </a:lnTo>
                  <a:lnTo>
                    <a:pt x="86144" y="48260"/>
                  </a:lnTo>
                  <a:lnTo>
                    <a:pt x="115252" y="19050"/>
                  </a:lnTo>
                  <a:lnTo>
                    <a:pt x="153669" y="19050"/>
                  </a:lnTo>
                  <a:lnTo>
                    <a:pt x="146181" y="10160"/>
                  </a:lnTo>
                  <a:lnTo>
                    <a:pt x="137071" y="5080"/>
                  </a:lnTo>
                  <a:lnTo>
                    <a:pt x="126655" y="1270"/>
                  </a:lnTo>
                  <a:lnTo>
                    <a:pt x="115252" y="0"/>
                  </a:lnTo>
                  <a:close/>
                </a:path>
                <a:path w="304800" h="303529">
                  <a:moveTo>
                    <a:pt x="225031" y="261620"/>
                  </a:moveTo>
                  <a:lnTo>
                    <a:pt x="220598" y="264160"/>
                  </a:lnTo>
                  <a:lnTo>
                    <a:pt x="218973" y="269240"/>
                  </a:lnTo>
                  <a:lnTo>
                    <a:pt x="214747" y="276860"/>
                  </a:lnTo>
                  <a:lnTo>
                    <a:pt x="208568" y="281940"/>
                  </a:lnTo>
                  <a:lnTo>
                    <a:pt x="200871" y="285750"/>
                  </a:lnTo>
                  <a:lnTo>
                    <a:pt x="192087" y="287020"/>
                  </a:lnTo>
                  <a:lnTo>
                    <a:pt x="153669" y="287020"/>
                  </a:lnTo>
                  <a:lnTo>
                    <a:pt x="161158" y="295910"/>
                  </a:lnTo>
                  <a:lnTo>
                    <a:pt x="170268" y="300990"/>
                  </a:lnTo>
                  <a:lnTo>
                    <a:pt x="177549" y="303530"/>
                  </a:lnTo>
                  <a:lnTo>
                    <a:pt x="206792" y="303530"/>
                  </a:lnTo>
                  <a:lnTo>
                    <a:pt x="216441" y="299720"/>
                  </a:lnTo>
                  <a:lnTo>
                    <a:pt x="226186" y="292100"/>
                  </a:lnTo>
                  <a:lnTo>
                    <a:pt x="233679" y="283210"/>
                  </a:lnTo>
                  <a:lnTo>
                    <a:pt x="235305" y="283210"/>
                  </a:lnTo>
                  <a:lnTo>
                    <a:pt x="255865" y="278130"/>
                  </a:lnTo>
                  <a:lnTo>
                    <a:pt x="272654" y="266700"/>
                  </a:lnTo>
                  <a:lnTo>
                    <a:pt x="275266" y="262890"/>
                  </a:lnTo>
                  <a:lnTo>
                    <a:pt x="231343" y="262890"/>
                  </a:lnTo>
                  <a:lnTo>
                    <a:pt x="225031" y="261620"/>
                  </a:lnTo>
                  <a:close/>
                </a:path>
                <a:path w="304800" h="303529">
                  <a:moveTo>
                    <a:pt x="163271" y="181610"/>
                  </a:moveTo>
                  <a:lnTo>
                    <a:pt x="144068" y="181610"/>
                  </a:lnTo>
                  <a:lnTo>
                    <a:pt x="144068" y="259080"/>
                  </a:lnTo>
                  <a:lnTo>
                    <a:pt x="141804" y="270510"/>
                  </a:lnTo>
                  <a:lnTo>
                    <a:pt x="135628" y="279400"/>
                  </a:lnTo>
                  <a:lnTo>
                    <a:pt x="126468" y="285750"/>
                  </a:lnTo>
                  <a:lnTo>
                    <a:pt x="115252" y="287020"/>
                  </a:lnTo>
                  <a:lnTo>
                    <a:pt x="192087" y="287020"/>
                  </a:lnTo>
                  <a:lnTo>
                    <a:pt x="180871" y="285750"/>
                  </a:lnTo>
                  <a:lnTo>
                    <a:pt x="171711" y="279400"/>
                  </a:lnTo>
                  <a:lnTo>
                    <a:pt x="165535" y="269240"/>
                  </a:lnTo>
                  <a:lnTo>
                    <a:pt x="163271" y="259080"/>
                  </a:lnTo>
                  <a:lnTo>
                    <a:pt x="163271" y="229870"/>
                  </a:lnTo>
                  <a:lnTo>
                    <a:pt x="218249" y="229870"/>
                  </a:lnTo>
                  <a:lnTo>
                    <a:pt x="215988" y="228600"/>
                  </a:lnTo>
                  <a:lnTo>
                    <a:pt x="212229" y="224790"/>
                  </a:lnTo>
                  <a:lnTo>
                    <a:pt x="211289" y="223520"/>
                  </a:lnTo>
                  <a:lnTo>
                    <a:pt x="211289" y="217170"/>
                  </a:lnTo>
                  <a:lnTo>
                    <a:pt x="212229" y="215900"/>
                  </a:lnTo>
                  <a:lnTo>
                    <a:pt x="215988" y="212090"/>
                  </a:lnTo>
                  <a:lnTo>
                    <a:pt x="218249" y="210820"/>
                  </a:lnTo>
                  <a:lnTo>
                    <a:pt x="163271" y="210820"/>
                  </a:lnTo>
                  <a:lnTo>
                    <a:pt x="163271" y="181610"/>
                  </a:lnTo>
                  <a:close/>
                </a:path>
                <a:path w="304800" h="303529">
                  <a:moveTo>
                    <a:pt x="82295" y="261620"/>
                  </a:moveTo>
                  <a:lnTo>
                    <a:pt x="77800" y="262890"/>
                  </a:lnTo>
                  <a:lnTo>
                    <a:pt x="84518" y="262890"/>
                  </a:lnTo>
                  <a:lnTo>
                    <a:pt x="82295" y="261620"/>
                  </a:lnTo>
                  <a:close/>
                </a:path>
                <a:path w="304800" h="303529">
                  <a:moveTo>
                    <a:pt x="192087" y="0"/>
                  </a:moveTo>
                  <a:lnTo>
                    <a:pt x="180684" y="1270"/>
                  </a:lnTo>
                  <a:lnTo>
                    <a:pt x="170268" y="5080"/>
                  </a:lnTo>
                  <a:lnTo>
                    <a:pt x="161158" y="10160"/>
                  </a:lnTo>
                  <a:lnTo>
                    <a:pt x="153669" y="19050"/>
                  </a:lnTo>
                  <a:lnTo>
                    <a:pt x="192087" y="19050"/>
                  </a:lnTo>
                  <a:lnTo>
                    <a:pt x="202708" y="20320"/>
                  </a:lnTo>
                  <a:lnTo>
                    <a:pt x="211542" y="26670"/>
                  </a:lnTo>
                  <a:lnTo>
                    <a:pt x="217821" y="34290"/>
                  </a:lnTo>
                  <a:lnTo>
                    <a:pt x="220776" y="44450"/>
                  </a:lnTo>
                  <a:lnTo>
                    <a:pt x="221013" y="46990"/>
                  </a:lnTo>
                  <a:lnTo>
                    <a:pt x="221132" y="48260"/>
                  </a:lnTo>
                  <a:lnTo>
                    <a:pt x="224015" y="52070"/>
                  </a:lnTo>
                  <a:lnTo>
                    <a:pt x="227977" y="53340"/>
                  </a:lnTo>
                  <a:lnTo>
                    <a:pt x="236639" y="57150"/>
                  </a:lnTo>
                  <a:lnTo>
                    <a:pt x="243524" y="63500"/>
                  </a:lnTo>
                  <a:lnTo>
                    <a:pt x="248067" y="71120"/>
                  </a:lnTo>
                  <a:lnTo>
                    <a:pt x="249707" y="81280"/>
                  </a:lnTo>
                  <a:lnTo>
                    <a:pt x="249707" y="82550"/>
                  </a:lnTo>
                  <a:lnTo>
                    <a:pt x="249529" y="85090"/>
                  </a:lnTo>
                  <a:lnTo>
                    <a:pt x="248272" y="91440"/>
                  </a:lnTo>
                  <a:lnTo>
                    <a:pt x="250786" y="95250"/>
                  </a:lnTo>
                  <a:lnTo>
                    <a:pt x="255168" y="97790"/>
                  </a:lnTo>
                  <a:lnTo>
                    <a:pt x="262653" y="101600"/>
                  </a:lnTo>
                  <a:lnTo>
                    <a:pt x="268522" y="107950"/>
                  </a:lnTo>
                  <a:lnTo>
                    <a:pt x="272352" y="115570"/>
                  </a:lnTo>
                  <a:lnTo>
                    <a:pt x="273723" y="124460"/>
                  </a:lnTo>
                  <a:lnTo>
                    <a:pt x="273723" y="127000"/>
                  </a:lnTo>
                  <a:lnTo>
                    <a:pt x="273240" y="130810"/>
                  </a:lnTo>
                  <a:lnTo>
                    <a:pt x="272275" y="133350"/>
                  </a:lnTo>
                  <a:lnTo>
                    <a:pt x="271081" y="137160"/>
                  </a:lnTo>
                  <a:lnTo>
                    <a:pt x="272160" y="140970"/>
                  </a:lnTo>
                  <a:lnTo>
                    <a:pt x="275043" y="143510"/>
                  </a:lnTo>
                  <a:lnTo>
                    <a:pt x="280479" y="149860"/>
                  </a:lnTo>
                  <a:lnTo>
                    <a:pt x="284599" y="156210"/>
                  </a:lnTo>
                  <a:lnTo>
                    <a:pt x="287211" y="163830"/>
                  </a:lnTo>
                  <a:lnTo>
                    <a:pt x="288124" y="172720"/>
                  </a:lnTo>
                  <a:lnTo>
                    <a:pt x="286829" y="181610"/>
                  </a:lnTo>
                  <a:lnTo>
                    <a:pt x="283159" y="191770"/>
                  </a:lnTo>
                  <a:lnTo>
                    <a:pt x="277441" y="199390"/>
                  </a:lnTo>
                  <a:lnTo>
                    <a:pt x="270001" y="204470"/>
                  </a:lnTo>
                  <a:lnTo>
                    <a:pt x="265976" y="207010"/>
                  </a:lnTo>
                  <a:lnTo>
                    <a:pt x="264413" y="212090"/>
                  </a:lnTo>
                  <a:lnTo>
                    <a:pt x="267893" y="220980"/>
                  </a:lnTo>
                  <a:lnTo>
                    <a:pt x="268858" y="224790"/>
                  </a:lnTo>
                  <a:lnTo>
                    <a:pt x="268858" y="229870"/>
                  </a:lnTo>
                  <a:lnTo>
                    <a:pt x="266215" y="242570"/>
                  </a:lnTo>
                  <a:lnTo>
                    <a:pt x="259008" y="254000"/>
                  </a:lnTo>
                  <a:lnTo>
                    <a:pt x="248322" y="260350"/>
                  </a:lnTo>
                  <a:lnTo>
                    <a:pt x="235242" y="262890"/>
                  </a:lnTo>
                  <a:lnTo>
                    <a:pt x="275266" y="262890"/>
                  </a:lnTo>
                  <a:lnTo>
                    <a:pt x="283974" y="250190"/>
                  </a:lnTo>
                  <a:lnTo>
                    <a:pt x="288124" y="229870"/>
                  </a:lnTo>
                  <a:lnTo>
                    <a:pt x="288124" y="224790"/>
                  </a:lnTo>
                  <a:lnTo>
                    <a:pt x="287527" y="220980"/>
                  </a:lnTo>
                  <a:lnTo>
                    <a:pt x="286448" y="217170"/>
                  </a:lnTo>
                  <a:lnTo>
                    <a:pt x="295081" y="208280"/>
                  </a:lnTo>
                  <a:lnTo>
                    <a:pt x="301666" y="196850"/>
                  </a:lnTo>
                  <a:lnTo>
                    <a:pt x="304799" y="187960"/>
                  </a:lnTo>
                  <a:lnTo>
                    <a:pt x="304799" y="156210"/>
                  </a:lnTo>
                  <a:lnTo>
                    <a:pt x="303271" y="151130"/>
                  </a:lnTo>
                  <a:lnTo>
                    <a:pt x="298472" y="140970"/>
                  </a:lnTo>
                  <a:lnTo>
                    <a:pt x="292087" y="133350"/>
                  </a:lnTo>
                  <a:lnTo>
                    <a:pt x="292633" y="130810"/>
                  </a:lnTo>
                  <a:lnTo>
                    <a:pt x="292828" y="128270"/>
                  </a:lnTo>
                  <a:lnTo>
                    <a:pt x="292925" y="124460"/>
                  </a:lnTo>
                  <a:lnTo>
                    <a:pt x="291191" y="111760"/>
                  </a:lnTo>
                  <a:lnTo>
                    <a:pt x="286300" y="100330"/>
                  </a:lnTo>
                  <a:lnTo>
                    <a:pt x="278721" y="90170"/>
                  </a:lnTo>
                  <a:lnTo>
                    <a:pt x="268922" y="82550"/>
                  </a:lnTo>
                  <a:lnTo>
                    <a:pt x="268922" y="81280"/>
                  </a:lnTo>
                  <a:lnTo>
                    <a:pt x="266704" y="66040"/>
                  </a:lnTo>
                  <a:lnTo>
                    <a:pt x="260500" y="53340"/>
                  </a:lnTo>
                  <a:lnTo>
                    <a:pt x="250989" y="43180"/>
                  </a:lnTo>
                  <a:lnTo>
                    <a:pt x="238848" y="36830"/>
                  </a:lnTo>
                  <a:lnTo>
                    <a:pt x="232662" y="21590"/>
                  </a:lnTo>
                  <a:lnTo>
                    <a:pt x="222149" y="10160"/>
                  </a:lnTo>
                  <a:lnTo>
                    <a:pt x="208296" y="2540"/>
                  </a:lnTo>
                  <a:lnTo>
                    <a:pt x="192087" y="0"/>
                  </a:lnTo>
                  <a:close/>
                </a:path>
                <a:path w="304800" h="303529">
                  <a:moveTo>
                    <a:pt x="220903" y="196850"/>
                  </a:moveTo>
                  <a:lnTo>
                    <a:pt x="213826" y="196850"/>
                  </a:lnTo>
                  <a:lnTo>
                    <a:pt x="207586" y="200660"/>
                  </a:lnTo>
                  <a:lnTo>
                    <a:pt x="202496" y="204470"/>
                  </a:lnTo>
                  <a:lnTo>
                    <a:pt x="198869" y="210820"/>
                  </a:lnTo>
                  <a:lnTo>
                    <a:pt x="223545" y="210820"/>
                  </a:lnTo>
                  <a:lnTo>
                    <a:pt x="225805" y="212090"/>
                  </a:lnTo>
                  <a:lnTo>
                    <a:pt x="229565" y="215900"/>
                  </a:lnTo>
                  <a:lnTo>
                    <a:pt x="230504" y="217170"/>
                  </a:lnTo>
                  <a:lnTo>
                    <a:pt x="230504" y="223520"/>
                  </a:lnTo>
                  <a:lnTo>
                    <a:pt x="229565" y="224790"/>
                  </a:lnTo>
                  <a:lnTo>
                    <a:pt x="225805" y="228600"/>
                  </a:lnTo>
                  <a:lnTo>
                    <a:pt x="223545" y="229870"/>
                  </a:lnTo>
                  <a:lnTo>
                    <a:pt x="198869" y="229870"/>
                  </a:lnTo>
                  <a:lnTo>
                    <a:pt x="202496" y="236220"/>
                  </a:lnTo>
                  <a:lnTo>
                    <a:pt x="207586" y="240030"/>
                  </a:lnTo>
                  <a:lnTo>
                    <a:pt x="213826" y="243840"/>
                  </a:lnTo>
                  <a:lnTo>
                    <a:pt x="220903" y="243840"/>
                  </a:lnTo>
                  <a:lnTo>
                    <a:pt x="230247" y="242570"/>
                  </a:lnTo>
                  <a:lnTo>
                    <a:pt x="237877" y="237490"/>
                  </a:lnTo>
                  <a:lnTo>
                    <a:pt x="243020" y="229870"/>
                  </a:lnTo>
                  <a:lnTo>
                    <a:pt x="244906" y="219710"/>
                  </a:lnTo>
                  <a:lnTo>
                    <a:pt x="243020" y="210820"/>
                  </a:lnTo>
                  <a:lnTo>
                    <a:pt x="237877" y="203200"/>
                  </a:lnTo>
                  <a:lnTo>
                    <a:pt x="230247" y="198120"/>
                  </a:lnTo>
                  <a:lnTo>
                    <a:pt x="220903" y="196850"/>
                  </a:lnTo>
                  <a:close/>
                </a:path>
                <a:path w="304800" h="303529">
                  <a:moveTo>
                    <a:pt x="163271" y="95250"/>
                  </a:moveTo>
                  <a:lnTo>
                    <a:pt x="144068" y="95250"/>
                  </a:lnTo>
                  <a:lnTo>
                    <a:pt x="144068" y="162560"/>
                  </a:lnTo>
                  <a:lnTo>
                    <a:pt x="115252" y="162560"/>
                  </a:lnTo>
                  <a:lnTo>
                    <a:pt x="104665" y="165100"/>
                  </a:lnTo>
                  <a:lnTo>
                    <a:pt x="95840" y="170180"/>
                  </a:lnTo>
                  <a:lnTo>
                    <a:pt x="89549" y="177800"/>
                  </a:lnTo>
                  <a:lnTo>
                    <a:pt x="86563" y="187960"/>
                  </a:lnTo>
                  <a:lnTo>
                    <a:pt x="80692" y="191770"/>
                  </a:lnTo>
                  <a:lnTo>
                    <a:pt x="76098" y="196850"/>
                  </a:lnTo>
                  <a:lnTo>
                    <a:pt x="73104" y="203200"/>
                  </a:lnTo>
                  <a:lnTo>
                    <a:pt x="72034" y="210820"/>
                  </a:lnTo>
                  <a:lnTo>
                    <a:pt x="73920" y="219710"/>
                  </a:lnTo>
                  <a:lnTo>
                    <a:pt x="79063" y="227330"/>
                  </a:lnTo>
                  <a:lnTo>
                    <a:pt x="86693" y="232410"/>
                  </a:lnTo>
                  <a:lnTo>
                    <a:pt x="96037" y="234950"/>
                  </a:lnTo>
                  <a:lnTo>
                    <a:pt x="105388" y="232410"/>
                  </a:lnTo>
                  <a:lnTo>
                    <a:pt x="113022" y="227330"/>
                  </a:lnTo>
                  <a:lnTo>
                    <a:pt x="118166" y="219710"/>
                  </a:lnTo>
                  <a:lnTo>
                    <a:pt x="91122" y="219710"/>
                  </a:lnTo>
                  <a:lnTo>
                    <a:pt x="87375" y="215900"/>
                  </a:lnTo>
                  <a:lnTo>
                    <a:pt x="86436" y="213360"/>
                  </a:lnTo>
                  <a:lnTo>
                    <a:pt x="86436" y="208280"/>
                  </a:lnTo>
                  <a:lnTo>
                    <a:pt x="87375" y="205740"/>
                  </a:lnTo>
                  <a:lnTo>
                    <a:pt x="91122" y="201930"/>
                  </a:lnTo>
                  <a:lnTo>
                    <a:pt x="93395" y="200660"/>
                  </a:lnTo>
                  <a:lnTo>
                    <a:pt x="117582" y="200660"/>
                  </a:lnTo>
                  <a:lnTo>
                    <a:pt x="116139" y="198120"/>
                  </a:lnTo>
                  <a:lnTo>
                    <a:pt x="111700" y="193040"/>
                  </a:lnTo>
                  <a:lnTo>
                    <a:pt x="106006" y="189230"/>
                  </a:lnTo>
                  <a:lnTo>
                    <a:pt x="107149" y="184150"/>
                  </a:lnTo>
                  <a:lnTo>
                    <a:pt x="110870" y="181610"/>
                  </a:lnTo>
                  <a:lnTo>
                    <a:pt x="163271" y="181610"/>
                  </a:lnTo>
                  <a:lnTo>
                    <a:pt x="163271" y="95250"/>
                  </a:lnTo>
                  <a:close/>
                </a:path>
                <a:path w="304800" h="303529">
                  <a:moveTo>
                    <a:pt x="117582" y="200660"/>
                  </a:moveTo>
                  <a:lnTo>
                    <a:pt x="98691" y="200660"/>
                  </a:lnTo>
                  <a:lnTo>
                    <a:pt x="100964" y="201930"/>
                  </a:lnTo>
                  <a:lnTo>
                    <a:pt x="104711" y="205740"/>
                  </a:lnTo>
                  <a:lnTo>
                    <a:pt x="105651" y="208280"/>
                  </a:lnTo>
                  <a:lnTo>
                    <a:pt x="105651" y="213360"/>
                  </a:lnTo>
                  <a:lnTo>
                    <a:pt x="104711" y="215900"/>
                  </a:lnTo>
                  <a:lnTo>
                    <a:pt x="100964" y="219710"/>
                  </a:lnTo>
                  <a:lnTo>
                    <a:pt x="118166" y="219710"/>
                  </a:lnTo>
                  <a:lnTo>
                    <a:pt x="120053" y="210820"/>
                  </a:lnTo>
                  <a:lnTo>
                    <a:pt x="119024" y="203200"/>
                  </a:lnTo>
                  <a:lnTo>
                    <a:pt x="117582" y="200660"/>
                  </a:lnTo>
                  <a:close/>
                </a:path>
                <a:path w="304800" h="303529">
                  <a:moveTo>
                    <a:pt x="192087" y="76200"/>
                  </a:moveTo>
                  <a:lnTo>
                    <a:pt x="108305" y="76200"/>
                  </a:lnTo>
                  <a:lnTo>
                    <a:pt x="110566" y="77470"/>
                  </a:lnTo>
                  <a:lnTo>
                    <a:pt x="114312" y="81280"/>
                  </a:lnTo>
                  <a:lnTo>
                    <a:pt x="115252" y="82550"/>
                  </a:lnTo>
                  <a:lnTo>
                    <a:pt x="115252" y="88900"/>
                  </a:lnTo>
                  <a:lnTo>
                    <a:pt x="114312" y="90170"/>
                  </a:lnTo>
                  <a:lnTo>
                    <a:pt x="110566" y="93980"/>
                  </a:lnTo>
                  <a:lnTo>
                    <a:pt x="108305" y="95250"/>
                  </a:lnTo>
                  <a:lnTo>
                    <a:pt x="197370" y="95250"/>
                  </a:lnTo>
                  <a:lnTo>
                    <a:pt x="201688" y="100330"/>
                  </a:lnTo>
                  <a:lnTo>
                    <a:pt x="201688" y="111760"/>
                  </a:lnTo>
                  <a:lnTo>
                    <a:pt x="195870" y="115570"/>
                  </a:lnTo>
                  <a:lnTo>
                    <a:pt x="191315" y="120650"/>
                  </a:lnTo>
                  <a:lnTo>
                    <a:pt x="188347" y="127000"/>
                  </a:lnTo>
                  <a:lnTo>
                    <a:pt x="187286" y="133350"/>
                  </a:lnTo>
                  <a:lnTo>
                    <a:pt x="189172" y="143510"/>
                  </a:lnTo>
                  <a:lnTo>
                    <a:pt x="194316" y="151130"/>
                  </a:lnTo>
                  <a:lnTo>
                    <a:pt x="201945" y="156210"/>
                  </a:lnTo>
                  <a:lnTo>
                    <a:pt x="211289" y="157480"/>
                  </a:lnTo>
                  <a:lnTo>
                    <a:pt x="220641" y="156210"/>
                  </a:lnTo>
                  <a:lnTo>
                    <a:pt x="228274" y="151130"/>
                  </a:lnTo>
                  <a:lnTo>
                    <a:pt x="233419" y="143510"/>
                  </a:lnTo>
                  <a:lnTo>
                    <a:pt x="208635" y="143510"/>
                  </a:lnTo>
                  <a:lnTo>
                    <a:pt x="206374" y="142240"/>
                  </a:lnTo>
                  <a:lnTo>
                    <a:pt x="202628" y="138430"/>
                  </a:lnTo>
                  <a:lnTo>
                    <a:pt x="201688" y="135890"/>
                  </a:lnTo>
                  <a:lnTo>
                    <a:pt x="201688" y="130810"/>
                  </a:lnTo>
                  <a:lnTo>
                    <a:pt x="202628" y="128270"/>
                  </a:lnTo>
                  <a:lnTo>
                    <a:pt x="206374" y="125730"/>
                  </a:lnTo>
                  <a:lnTo>
                    <a:pt x="208635" y="124460"/>
                  </a:lnTo>
                  <a:lnTo>
                    <a:pt x="233057" y="124460"/>
                  </a:lnTo>
                  <a:lnTo>
                    <a:pt x="231276" y="120650"/>
                  </a:lnTo>
                  <a:lnTo>
                    <a:pt x="226722" y="115570"/>
                  </a:lnTo>
                  <a:lnTo>
                    <a:pt x="220903" y="111760"/>
                  </a:lnTo>
                  <a:lnTo>
                    <a:pt x="220903" y="105410"/>
                  </a:lnTo>
                  <a:lnTo>
                    <a:pt x="218637" y="93980"/>
                  </a:lnTo>
                  <a:lnTo>
                    <a:pt x="212458" y="85090"/>
                  </a:lnTo>
                  <a:lnTo>
                    <a:pt x="203298" y="78740"/>
                  </a:lnTo>
                  <a:lnTo>
                    <a:pt x="192087" y="76200"/>
                  </a:lnTo>
                  <a:close/>
                </a:path>
                <a:path w="304800" h="303529">
                  <a:moveTo>
                    <a:pt x="233057" y="124460"/>
                  </a:moveTo>
                  <a:lnTo>
                    <a:pt x="213944" y="124460"/>
                  </a:lnTo>
                  <a:lnTo>
                    <a:pt x="216204" y="125730"/>
                  </a:lnTo>
                  <a:lnTo>
                    <a:pt x="219963" y="128270"/>
                  </a:lnTo>
                  <a:lnTo>
                    <a:pt x="220903" y="130810"/>
                  </a:lnTo>
                  <a:lnTo>
                    <a:pt x="220903" y="135890"/>
                  </a:lnTo>
                  <a:lnTo>
                    <a:pt x="219963" y="138430"/>
                  </a:lnTo>
                  <a:lnTo>
                    <a:pt x="216204" y="142240"/>
                  </a:lnTo>
                  <a:lnTo>
                    <a:pt x="213944" y="143510"/>
                  </a:lnTo>
                  <a:lnTo>
                    <a:pt x="233419" y="143510"/>
                  </a:lnTo>
                  <a:lnTo>
                    <a:pt x="235305" y="133350"/>
                  </a:lnTo>
                  <a:lnTo>
                    <a:pt x="234244" y="127000"/>
                  </a:lnTo>
                  <a:lnTo>
                    <a:pt x="233057" y="124460"/>
                  </a:lnTo>
                  <a:close/>
                </a:path>
                <a:path w="304800" h="303529">
                  <a:moveTo>
                    <a:pt x="112721" y="62230"/>
                  </a:moveTo>
                  <a:lnTo>
                    <a:pt x="105651" y="62230"/>
                  </a:lnTo>
                  <a:lnTo>
                    <a:pt x="96299" y="63500"/>
                  </a:lnTo>
                  <a:lnTo>
                    <a:pt x="88666" y="68580"/>
                  </a:lnTo>
                  <a:lnTo>
                    <a:pt x="83521" y="76200"/>
                  </a:lnTo>
                  <a:lnTo>
                    <a:pt x="81635" y="86360"/>
                  </a:lnTo>
                  <a:lnTo>
                    <a:pt x="83521" y="95250"/>
                  </a:lnTo>
                  <a:lnTo>
                    <a:pt x="88666" y="102870"/>
                  </a:lnTo>
                  <a:lnTo>
                    <a:pt x="96299" y="107950"/>
                  </a:lnTo>
                  <a:lnTo>
                    <a:pt x="105651" y="109220"/>
                  </a:lnTo>
                  <a:lnTo>
                    <a:pt x="112721" y="109220"/>
                  </a:lnTo>
                  <a:lnTo>
                    <a:pt x="118957" y="105410"/>
                  </a:lnTo>
                  <a:lnTo>
                    <a:pt x="124046" y="101600"/>
                  </a:lnTo>
                  <a:lnTo>
                    <a:pt x="127673" y="95250"/>
                  </a:lnTo>
                  <a:lnTo>
                    <a:pt x="102996" y="95250"/>
                  </a:lnTo>
                  <a:lnTo>
                    <a:pt x="100736" y="93980"/>
                  </a:lnTo>
                  <a:lnTo>
                    <a:pt x="96977" y="90170"/>
                  </a:lnTo>
                  <a:lnTo>
                    <a:pt x="96037" y="88900"/>
                  </a:lnTo>
                  <a:lnTo>
                    <a:pt x="96037" y="82550"/>
                  </a:lnTo>
                  <a:lnTo>
                    <a:pt x="96977" y="81280"/>
                  </a:lnTo>
                  <a:lnTo>
                    <a:pt x="100736" y="77470"/>
                  </a:lnTo>
                  <a:lnTo>
                    <a:pt x="102996" y="76200"/>
                  </a:lnTo>
                  <a:lnTo>
                    <a:pt x="127673" y="76200"/>
                  </a:lnTo>
                  <a:lnTo>
                    <a:pt x="124046" y="69850"/>
                  </a:lnTo>
                  <a:lnTo>
                    <a:pt x="118957" y="66040"/>
                  </a:lnTo>
                  <a:lnTo>
                    <a:pt x="112721" y="62230"/>
                  </a:lnTo>
                  <a:close/>
                </a:path>
                <a:path w="304800" h="303529">
                  <a:moveTo>
                    <a:pt x="192087" y="19050"/>
                  </a:moveTo>
                  <a:lnTo>
                    <a:pt x="115252" y="19050"/>
                  </a:lnTo>
                  <a:lnTo>
                    <a:pt x="126468" y="20320"/>
                  </a:lnTo>
                  <a:lnTo>
                    <a:pt x="135628" y="26670"/>
                  </a:lnTo>
                  <a:lnTo>
                    <a:pt x="141804" y="35560"/>
                  </a:lnTo>
                  <a:lnTo>
                    <a:pt x="144068" y="46990"/>
                  </a:lnTo>
                  <a:lnTo>
                    <a:pt x="144068" y="76200"/>
                  </a:lnTo>
                  <a:lnTo>
                    <a:pt x="163271" y="76200"/>
                  </a:lnTo>
                  <a:lnTo>
                    <a:pt x="163271" y="46990"/>
                  </a:lnTo>
                  <a:lnTo>
                    <a:pt x="165535" y="35560"/>
                  </a:lnTo>
                  <a:lnTo>
                    <a:pt x="171711" y="26670"/>
                  </a:lnTo>
                  <a:lnTo>
                    <a:pt x="180871" y="20320"/>
                  </a:lnTo>
                  <a:lnTo>
                    <a:pt x="192087" y="19050"/>
                  </a:lnTo>
                  <a:close/>
                </a:path>
              </a:pathLst>
            </a:custGeom>
            <a:solidFill>
              <a:srgbClr val="F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28199" y="3574186"/>
              <a:ext cx="2026285" cy="1903730"/>
            </a:xfrm>
            <a:custGeom>
              <a:avLst/>
              <a:gdLst/>
              <a:ahLst/>
              <a:cxnLst/>
              <a:rect l="l" t="t" r="r" b="b"/>
              <a:pathLst>
                <a:path w="2026285" h="1903729">
                  <a:moveTo>
                    <a:pt x="1966506" y="0"/>
                  </a:moveTo>
                  <a:lnTo>
                    <a:pt x="1908782" y="2801"/>
                  </a:lnTo>
                  <a:lnTo>
                    <a:pt x="1855237" y="6381"/>
                  </a:lnTo>
                  <a:lnTo>
                    <a:pt x="1801772" y="10903"/>
                  </a:lnTo>
                  <a:lnTo>
                    <a:pt x="1748386" y="16367"/>
                  </a:lnTo>
                  <a:lnTo>
                    <a:pt x="1695081" y="22771"/>
                  </a:lnTo>
                  <a:lnTo>
                    <a:pt x="1641898" y="30116"/>
                  </a:lnTo>
                  <a:lnTo>
                    <a:pt x="1588877" y="38392"/>
                  </a:lnTo>
                  <a:lnTo>
                    <a:pt x="1536017" y="47599"/>
                  </a:lnTo>
                  <a:lnTo>
                    <a:pt x="1483318" y="57738"/>
                  </a:lnTo>
                  <a:lnTo>
                    <a:pt x="1430782" y="68808"/>
                  </a:lnTo>
                  <a:lnTo>
                    <a:pt x="1378447" y="80808"/>
                  </a:lnTo>
                  <a:lnTo>
                    <a:pt x="1326358" y="93720"/>
                  </a:lnTo>
                  <a:lnTo>
                    <a:pt x="1274513" y="107545"/>
                  </a:lnTo>
                  <a:lnTo>
                    <a:pt x="1222914" y="122283"/>
                  </a:lnTo>
                  <a:lnTo>
                    <a:pt x="1171562" y="137934"/>
                  </a:lnTo>
                  <a:lnTo>
                    <a:pt x="1120486" y="154486"/>
                  </a:lnTo>
                  <a:lnTo>
                    <a:pt x="1069734" y="171926"/>
                  </a:lnTo>
                  <a:lnTo>
                    <a:pt x="1019305" y="190254"/>
                  </a:lnTo>
                  <a:lnTo>
                    <a:pt x="969199" y="209471"/>
                  </a:lnTo>
                  <a:lnTo>
                    <a:pt x="919416" y="229577"/>
                  </a:lnTo>
                  <a:lnTo>
                    <a:pt x="869996" y="250563"/>
                  </a:lnTo>
                  <a:lnTo>
                    <a:pt x="820976" y="272403"/>
                  </a:lnTo>
                  <a:lnTo>
                    <a:pt x="772357" y="295100"/>
                  </a:lnTo>
                  <a:lnTo>
                    <a:pt x="724136" y="318653"/>
                  </a:lnTo>
                  <a:lnTo>
                    <a:pt x="676313" y="343065"/>
                  </a:lnTo>
                  <a:lnTo>
                    <a:pt x="628932" y="368314"/>
                  </a:lnTo>
                  <a:lnTo>
                    <a:pt x="582024" y="394382"/>
                  </a:lnTo>
                  <a:lnTo>
                    <a:pt x="535589" y="421267"/>
                  </a:lnTo>
                  <a:lnTo>
                    <a:pt x="489629" y="448971"/>
                  </a:lnTo>
                  <a:lnTo>
                    <a:pt x="444144" y="477494"/>
                  </a:lnTo>
                  <a:lnTo>
                    <a:pt x="399168" y="506813"/>
                  </a:lnTo>
                  <a:lnTo>
                    <a:pt x="354735" y="536904"/>
                  </a:lnTo>
                  <a:lnTo>
                    <a:pt x="310845" y="567769"/>
                  </a:lnTo>
                  <a:lnTo>
                    <a:pt x="267501" y="599409"/>
                  </a:lnTo>
                  <a:lnTo>
                    <a:pt x="224701" y="631825"/>
                  </a:lnTo>
                  <a:lnTo>
                    <a:pt x="182478" y="664990"/>
                  </a:lnTo>
                  <a:lnTo>
                    <a:pt x="140865" y="698877"/>
                  </a:lnTo>
                  <a:lnTo>
                    <a:pt x="99862" y="733485"/>
                  </a:lnTo>
                  <a:lnTo>
                    <a:pt x="59469" y="768813"/>
                  </a:lnTo>
                  <a:lnTo>
                    <a:pt x="19685" y="804862"/>
                  </a:lnTo>
                  <a:lnTo>
                    <a:pt x="660" y="840270"/>
                  </a:lnTo>
                  <a:lnTo>
                    <a:pt x="0" y="852525"/>
                  </a:lnTo>
                  <a:lnTo>
                    <a:pt x="330" y="856602"/>
                  </a:lnTo>
                  <a:lnTo>
                    <a:pt x="17919" y="892733"/>
                  </a:lnTo>
                  <a:lnTo>
                    <a:pt x="1015784" y="1890598"/>
                  </a:lnTo>
                  <a:lnTo>
                    <a:pt x="1022007" y="1894852"/>
                  </a:lnTo>
                  <a:lnTo>
                    <a:pt x="1036078" y="1900999"/>
                  </a:lnTo>
                  <a:lnTo>
                    <a:pt x="1043444" y="1902675"/>
                  </a:lnTo>
                  <a:lnTo>
                    <a:pt x="1058786" y="1903260"/>
                  </a:lnTo>
                  <a:lnTo>
                    <a:pt x="1066253" y="1902142"/>
                  </a:lnTo>
                  <a:lnTo>
                    <a:pt x="1080757" y="1897087"/>
                  </a:lnTo>
                  <a:lnTo>
                    <a:pt x="1087285" y="1893316"/>
                  </a:lnTo>
                  <a:lnTo>
                    <a:pt x="1093114" y="1888312"/>
                  </a:lnTo>
                  <a:lnTo>
                    <a:pt x="1130240" y="1857451"/>
                  </a:lnTo>
                  <a:lnTo>
                    <a:pt x="1168267" y="1827824"/>
                  </a:lnTo>
                  <a:lnTo>
                    <a:pt x="1207194" y="1799432"/>
                  </a:lnTo>
                  <a:lnTo>
                    <a:pt x="1247019" y="1772274"/>
                  </a:lnTo>
                  <a:lnTo>
                    <a:pt x="1287741" y="1746351"/>
                  </a:lnTo>
                  <a:lnTo>
                    <a:pt x="1329267" y="1721731"/>
                  </a:lnTo>
                  <a:lnTo>
                    <a:pt x="1371489" y="1698469"/>
                  </a:lnTo>
                  <a:lnTo>
                    <a:pt x="1414407" y="1676568"/>
                  </a:lnTo>
                  <a:lnTo>
                    <a:pt x="1458021" y="1656028"/>
                  </a:lnTo>
                  <a:lnTo>
                    <a:pt x="1502333" y="1636852"/>
                  </a:lnTo>
                  <a:lnTo>
                    <a:pt x="1547217" y="1619085"/>
                  </a:lnTo>
                  <a:lnTo>
                    <a:pt x="1592575" y="1602772"/>
                  </a:lnTo>
                  <a:lnTo>
                    <a:pt x="1638407" y="1587913"/>
                  </a:lnTo>
                  <a:lnTo>
                    <a:pt x="1684713" y="1574508"/>
                  </a:lnTo>
                  <a:lnTo>
                    <a:pt x="1731492" y="1562557"/>
                  </a:lnTo>
                  <a:lnTo>
                    <a:pt x="1778619" y="1552087"/>
                  </a:lnTo>
                  <a:lnTo>
                    <a:pt x="1825982" y="1543127"/>
                  </a:lnTo>
                  <a:lnTo>
                    <a:pt x="1873583" y="1535676"/>
                  </a:lnTo>
                  <a:lnTo>
                    <a:pt x="1921419" y="1529736"/>
                  </a:lnTo>
                  <a:lnTo>
                    <a:pt x="1969490" y="1525308"/>
                  </a:lnTo>
                  <a:lnTo>
                    <a:pt x="1977148" y="1524723"/>
                  </a:lnTo>
                  <a:lnTo>
                    <a:pt x="1984438" y="1522768"/>
                  </a:lnTo>
                  <a:lnTo>
                    <a:pt x="2018792" y="1493951"/>
                  </a:lnTo>
                  <a:lnTo>
                    <a:pt x="2025789" y="1472234"/>
                  </a:lnTo>
                  <a:lnTo>
                    <a:pt x="2025789" y="56934"/>
                  </a:lnTo>
                  <a:lnTo>
                    <a:pt x="2010029" y="19939"/>
                  </a:lnTo>
                  <a:lnTo>
                    <a:pt x="1970582" y="241"/>
                  </a:lnTo>
                  <a:lnTo>
                    <a:pt x="1966506" y="0"/>
                  </a:lnTo>
                  <a:close/>
                </a:path>
              </a:pathLst>
            </a:custGeom>
            <a:solidFill>
              <a:srgbClr val="3051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06404" y="4353813"/>
              <a:ext cx="269240" cy="304800"/>
            </a:xfrm>
            <a:custGeom>
              <a:avLst/>
              <a:gdLst/>
              <a:ahLst/>
              <a:cxnLst/>
              <a:rect l="l" t="t" r="r" b="b"/>
              <a:pathLst>
                <a:path w="269239" h="304800">
                  <a:moveTo>
                    <a:pt x="139496" y="0"/>
                  </a:moveTo>
                  <a:lnTo>
                    <a:pt x="129412" y="0"/>
                  </a:lnTo>
                  <a:lnTo>
                    <a:pt x="124409" y="495"/>
                  </a:lnTo>
                  <a:lnTo>
                    <a:pt x="87579" y="15760"/>
                  </a:lnTo>
                  <a:lnTo>
                    <a:pt x="61544" y="52095"/>
                  </a:lnTo>
                  <a:lnTo>
                    <a:pt x="57619" y="71793"/>
                  </a:lnTo>
                  <a:lnTo>
                    <a:pt x="57619" y="81876"/>
                  </a:lnTo>
                  <a:lnTo>
                    <a:pt x="73380" y="123710"/>
                  </a:lnTo>
                  <a:lnTo>
                    <a:pt x="109715" y="149745"/>
                  </a:lnTo>
                  <a:lnTo>
                    <a:pt x="129412" y="153669"/>
                  </a:lnTo>
                  <a:lnTo>
                    <a:pt x="139496" y="153669"/>
                  </a:lnTo>
                  <a:lnTo>
                    <a:pt x="181330" y="137921"/>
                  </a:lnTo>
                  <a:lnTo>
                    <a:pt x="185496" y="134454"/>
                  </a:lnTo>
                  <a:lnTo>
                    <a:pt x="130670" y="134454"/>
                  </a:lnTo>
                  <a:lnTo>
                    <a:pt x="126923" y="134086"/>
                  </a:lnTo>
                  <a:lnTo>
                    <a:pt x="91033" y="114909"/>
                  </a:lnTo>
                  <a:lnTo>
                    <a:pt x="76822" y="80619"/>
                  </a:lnTo>
                  <a:lnTo>
                    <a:pt x="76822" y="73050"/>
                  </a:lnTo>
                  <a:lnTo>
                    <a:pt x="96380" y="33413"/>
                  </a:lnTo>
                  <a:lnTo>
                    <a:pt x="130670" y="19215"/>
                  </a:lnTo>
                  <a:lnTo>
                    <a:pt x="185496" y="19215"/>
                  </a:lnTo>
                  <a:lnTo>
                    <a:pt x="185216" y="18935"/>
                  </a:lnTo>
                  <a:lnTo>
                    <a:pt x="144500" y="495"/>
                  </a:lnTo>
                  <a:lnTo>
                    <a:pt x="139496" y="0"/>
                  </a:lnTo>
                  <a:close/>
                </a:path>
                <a:path w="269239" h="304800">
                  <a:moveTo>
                    <a:pt x="185496" y="19215"/>
                  </a:moveTo>
                  <a:lnTo>
                    <a:pt x="138239" y="19215"/>
                  </a:lnTo>
                  <a:lnTo>
                    <a:pt x="141985" y="19583"/>
                  </a:lnTo>
                  <a:lnTo>
                    <a:pt x="149402" y="21056"/>
                  </a:lnTo>
                  <a:lnTo>
                    <a:pt x="184467" y="47967"/>
                  </a:lnTo>
                  <a:lnTo>
                    <a:pt x="191951" y="71793"/>
                  </a:lnTo>
                  <a:lnTo>
                    <a:pt x="191951" y="81876"/>
                  </a:lnTo>
                  <a:lnTo>
                    <a:pt x="172529" y="120256"/>
                  </a:lnTo>
                  <a:lnTo>
                    <a:pt x="138239" y="134454"/>
                  </a:lnTo>
                  <a:lnTo>
                    <a:pt x="185496" y="134454"/>
                  </a:lnTo>
                  <a:lnTo>
                    <a:pt x="207365" y="101574"/>
                  </a:lnTo>
                  <a:lnTo>
                    <a:pt x="211289" y="81876"/>
                  </a:lnTo>
                  <a:lnTo>
                    <a:pt x="211289" y="71793"/>
                  </a:lnTo>
                  <a:lnTo>
                    <a:pt x="195529" y="29959"/>
                  </a:lnTo>
                  <a:lnTo>
                    <a:pt x="192354" y="26073"/>
                  </a:lnTo>
                  <a:lnTo>
                    <a:pt x="185496" y="19215"/>
                  </a:lnTo>
                  <a:close/>
                </a:path>
                <a:path w="269239" h="304800">
                  <a:moveTo>
                    <a:pt x="161886" y="182473"/>
                  </a:moveTo>
                  <a:lnTo>
                    <a:pt x="107022" y="182473"/>
                  </a:lnTo>
                  <a:lnTo>
                    <a:pt x="65354" y="190882"/>
                  </a:lnTo>
                  <a:lnTo>
                    <a:pt x="31337" y="213817"/>
                  </a:lnTo>
                  <a:lnTo>
                    <a:pt x="8407" y="247838"/>
                  </a:lnTo>
                  <a:lnTo>
                    <a:pt x="0" y="289509"/>
                  </a:lnTo>
                  <a:lnTo>
                    <a:pt x="0" y="299351"/>
                  </a:lnTo>
                  <a:lnTo>
                    <a:pt x="5439" y="304799"/>
                  </a:lnTo>
                  <a:lnTo>
                    <a:pt x="263470" y="304799"/>
                  </a:lnTo>
                  <a:lnTo>
                    <a:pt x="268909" y="299351"/>
                  </a:lnTo>
                  <a:lnTo>
                    <a:pt x="268909" y="289509"/>
                  </a:lnTo>
                  <a:lnTo>
                    <a:pt x="268630" y="288124"/>
                  </a:lnTo>
                  <a:lnTo>
                    <a:pt x="19202" y="288124"/>
                  </a:lnTo>
                  <a:lnTo>
                    <a:pt x="26503" y="254436"/>
                  </a:lnTo>
                  <a:lnTo>
                    <a:pt x="45400" y="226966"/>
                  </a:lnTo>
                  <a:lnTo>
                    <a:pt x="73153" y="208466"/>
                  </a:lnTo>
                  <a:lnTo>
                    <a:pt x="107022" y="201688"/>
                  </a:lnTo>
                  <a:lnTo>
                    <a:pt x="219583" y="201688"/>
                  </a:lnTo>
                  <a:lnTo>
                    <a:pt x="203555" y="190882"/>
                  </a:lnTo>
                  <a:lnTo>
                    <a:pt x="161886" y="182473"/>
                  </a:lnTo>
                  <a:close/>
                </a:path>
                <a:path w="269239" h="304800">
                  <a:moveTo>
                    <a:pt x="219583" y="201688"/>
                  </a:moveTo>
                  <a:lnTo>
                    <a:pt x="161886" y="201688"/>
                  </a:lnTo>
                  <a:lnTo>
                    <a:pt x="195791" y="208466"/>
                  </a:lnTo>
                  <a:lnTo>
                    <a:pt x="223556" y="226966"/>
                  </a:lnTo>
                  <a:lnTo>
                    <a:pt x="242441" y="254436"/>
                  </a:lnTo>
                  <a:lnTo>
                    <a:pt x="249707" y="288124"/>
                  </a:lnTo>
                  <a:lnTo>
                    <a:pt x="268630" y="288124"/>
                  </a:lnTo>
                  <a:lnTo>
                    <a:pt x="260502" y="247838"/>
                  </a:lnTo>
                  <a:lnTo>
                    <a:pt x="237572" y="213817"/>
                  </a:lnTo>
                  <a:lnTo>
                    <a:pt x="219583" y="201688"/>
                  </a:lnTo>
                  <a:close/>
                </a:path>
              </a:pathLst>
            </a:custGeom>
            <a:solidFill>
              <a:srgbClr val="F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772873" y="3574186"/>
            <a:ext cx="2985135" cy="2985135"/>
            <a:chOff x="5772873" y="3574186"/>
            <a:chExt cx="2985135" cy="2985135"/>
          </a:xfrm>
        </p:grpSpPr>
        <p:sp>
          <p:nvSpPr>
            <p:cNvPr id="10" name="object 10"/>
            <p:cNvSpPr/>
            <p:nvPr/>
          </p:nvSpPr>
          <p:spPr>
            <a:xfrm>
              <a:off x="5772873" y="3574186"/>
              <a:ext cx="2026285" cy="1903730"/>
            </a:xfrm>
            <a:custGeom>
              <a:avLst/>
              <a:gdLst/>
              <a:ahLst/>
              <a:cxnLst/>
              <a:rect l="l" t="t" r="r" b="b"/>
              <a:pathLst>
                <a:path w="2026284" h="1903729">
                  <a:moveTo>
                    <a:pt x="59283" y="0"/>
                  </a:moveTo>
                  <a:lnTo>
                    <a:pt x="21691" y="14262"/>
                  </a:lnTo>
                  <a:lnTo>
                    <a:pt x="419" y="52882"/>
                  </a:lnTo>
                  <a:lnTo>
                    <a:pt x="0" y="56934"/>
                  </a:lnTo>
                  <a:lnTo>
                    <a:pt x="0" y="61048"/>
                  </a:lnTo>
                  <a:lnTo>
                    <a:pt x="0" y="1472234"/>
                  </a:lnTo>
                  <a:lnTo>
                    <a:pt x="21463" y="1511604"/>
                  </a:lnTo>
                  <a:lnTo>
                    <a:pt x="56311" y="1525308"/>
                  </a:lnTo>
                  <a:lnTo>
                    <a:pt x="104383" y="1529736"/>
                  </a:lnTo>
                  <a:lnTo>
                    <a:pt x="152219" y="1535676"/>
                  </a:lnTo>
                  <a:lnTo>
                    <a:pt x="199819" y="1543127"/>
                  </a:lnTo>
                  <a:lnTo>
                    <a:pt x="247183" y="1552087"/>
                  </a:lnTo>
                  <a:lnTo>
                    <a:pt x="294309" y="1562557"/>
                  </a:lnTo>
                  <a:lnTo>
                    <a:pt x="341087" y="1574508"/>
                  </a:lnTo>
                  <a:lnTo>
                    <a:pt x="387391" y="1587913"/>
                  </a:lnTo>
                  <a:lnTo>
                    <a:pt x="433221" y="1602772"/>
                  </a:lnTo>
                  <a:lnTo>
                    <a:pt x="478580" y="1619085"/>
                  </a:lnTo>
                  <a:lnTo>
                    <a:pt x="523468" y="1636852"/>
                  </a:lnTo>
                  <a:lnTo>
                    <a:pt x="567780" y="1656028"/>
                  </a:lnTo>
                  <a:lnTo>
                    <a:pt x="611394" y="1676568"/>
                  </a:lnTo>
                  <a:lnTo>
                    <a:pt x="654310" y="1698469"/>
                  </a:lnTo>
                  <a:lnTo>
                    <a:pt x="696527" y="1721731"/>
                  </a:lnTo>
                  <a:lnTo>
                    <a:pt x="738047" y="1746351"/>
                  </a:lnTo>
                  <a:lnTo>
                    <a:pt x="778776" y="1772274"/>
                  </a:lnTo>
                  <a:lnTo>
                    <a:pt x="818605" y="1799432"/>
                  </a:lnTo>
                  <a:lnTo>
                    <a:pt x="857534" y="1827824"/>
                  </a:lnTo>
                  <a:lnTo>
                    <a:pt x="895561" y="1857451"/>
                  </a:lnTo>
                  <a:lnTo>
                    <a:pt x="932688" y="1888312"/>
                  </a:lnTo>
                  <a:lnTo>
                    <a:pt x="938504" y="1893316"/>
                  </a:lnTo>
                  <a:lnTo>
                    <a:pt x="945045" y="1897087"/>
                  </a:lnTo>
                  <a:lnTo>
                    <a:pt x="959548" y="1902142"/>
                  </a:lnTo>
                  <a:lnTo>
                    <a:pt x="967016" y="1903260"/>
                  </a:lnTo>
                  <a:lnTo>
                    <a:pt x="982357" y="1902675"/>
                  </a:lnTo>
                  <a:lnTo>
                    <a:pt x="2010791" y="889838"/>
                  </a:lnTo>
                  <a:lnTo>
                    <a:pt x="2025802" y="852525"/>
                  </a:lnTo>
                  <a:lnTo>
                    <a:pt x="2025637" y="844321"/>
                  </a:lnTo>
                  <a:lnTo>
                    <a:pt x="2009127" y="807656"/>
                  </a:lnTo>
                  <a:lnTo>
                    <a:pt x="1966333" y="768813"/>
                  </a:lnTo>
                  <a:lnTo>
                    <a:pt x="1925939" y="733485"/>
                  </a:lnTo>
                  <a:lnTo>
                    <a:pt x="1884936" y="698877"/>
                  </a:lnTo>
                  <a:lnTo>
                    <a:pt x="1843323" y="664990"/>
                  </a:lnTo>
                  <a:lnTo>
                    <a:pt x="1801101" y="631825"/>
                  </a:lnTo>
                  <a:lnTo>
                    <a:pt x="1758301" y="599409"/>
                  </a:lnTo>
                  <a:lnTo>
                    <a:pt x="1714956" y="567769"/>
                  </a:lnTo>
                  <a:lnTo>
                    <a:pt x="1671067" y="536904"/>
                  </a:lnTo>
                  <a:lnTo>
                    <a:pt x="1626634" y="506813"/>
                  </a:lnTo>
                  <a:lnTo>
                    <a:pt x="1581658" y="477494"/>
                  </a:lnTo>
                  <a:lnTo>
                    <a:pt x="1536172" y="448971"/>
                  </a:lnTo>
                  <a:lnTo>
                    <a:pt x="1490212" y="421267"/>
                  </a:lnTo>
                  <a:lnTo>
                    <a:pt x="1443778" y="394382"/>
                  </a:lnTo>
                  <a:lnTo>
                    <a:pt x="1396870" y="368314"/>
                  </a:lnTo>
                  <a:lnTo>
                    <a:pt x="1349489" y="343065"/>
                  </a:lnTo>
                  <a:lnTo>
                    <a:pt x="1301665" y="318653"/>
                  </a:lnTo>
                  <a:lnTo>
                    <a:pt x="1253445" y="295100"/>
                  </a:lnTo>
                  <a:lnTo>
                    <a:pt x="1204825" y="272403"/>
                  </a:lnTo>
                  <a:lnTo>
                    <a:pt x="1155806" y="250563"/>
                  </a:lnTo>
                  <a:lnTo>
                    <a:pt x="1106385" y="229577"/>
                  </a:lnTo>
                  <a:lnTo>
                    <a:pt x="1056602" y="209471"/>
                  </a:lnTo>
                  <a:lnTo>
                    <a:pt x="1006496" y="190254"/>
                  </a:lnTo>
                  <a:lnTo>
                    <a:pt x="956067" y="171926"/>
                  </a:lnTo>
                  <a:lnTo>
                    <a:pt x="905315" y="154486"/>
                  </a:lnTo>
                  <a:lnTo>
                    <a:pt x="854240" y="137934"/>
                  </a:lnTo>
                  <a:lnTo>
                    <a:pt x="802882" y="122283"/>
                  </a:lnTo>
                  <a:lnTo>
                    <a:pt x="751283" y="107545"/>
                  </a:lnTo>
                  <a:lnTo>
                    <a:pt x="699440" y="93720"/>
                  </a:lnTo>
                  <a:lnTo>
                    <a:pt x="647353" y="80808"/>
                  </a:lnTo>
                  <a:lnTo>
                    <a:pt x="595020" y="68808"/>
                  </a:lnTo>
                  <a:lnTo>
                    <a:pt x="542483" y="57738"/>
                  </a:lnTo>
                  <a:lnTo>
                    <a:pt x="489785" y="47599"/>
                  </a:lnTo>
                  <a:lnTo>
                    <a:pt x="436925" y="38392"/>
                  </a:lnTo>
                  <a:lnTo>
                    <a:pt x="383903" y="30116"/>
                  </a:lnTo>
                  <a:lnTo>
                    <a:pt x="330720" y="22771"/>
                  </a:lnTo>
                  <a:lnTo>
                    <a:pt x="277410" y="16367"/>
                  </a:lnTo>
                  <a:lnTo>
                    <a:pt x="224023" y="10903"/>
                  </a:lnTo>
                  <a:lnTo>
                    <a:pt x="170558" y="6381"/>
                  </a:lnTo>
                  <a:lnTo>
                    <a:pt x="117012" y="2801"/>
                  </a:lnTo>
                  <a:lnTo>
                    <a:pt x="63385" y="165"/>
                  </a:lnTo>
                  <a:lnTo>
                    <a:pt x="59283" y="0"/>
                  </a:lnTo>
                  <a:close/>
                </a:path>
              </a:pathLst>
            </a:custGeom>
            <a:solidFill>
              <a:srgbClr val="3051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49403" y="4355442"/>
              <a:ext cx="288290" cy="304165"/>
            </a:xfrm>
            <a:custGeom>
              <a:avLst/>
              <a:gdLst/>
              <a:ahLst/>
              <a:cxnLst/>
              <a:rect l="l" t="t" r="r" b="b"/>
              <a:pathLst>
                <a:path w="288290" h="304164">
                  <a:moveTo>
                    <a:pt x="144056" y="0"/>
                  </a:moveTo>
                  <a:lnTo>
                    <a:pt x="22987" y="48079"/>
                  </a:lnTo>
                  <a:lnTo>
                    <a:pt x="0" y="82407"/>
                  </a:lnTo>
                  <a:lnTo>
                    <a:pt x="2416" y="115794"/>
                  </a:lnTo>
                  <a:lnTo>
                    <a:pt x="10387" y="154391"/>
                  </a:lnTo>
                  <a:lnTo>
                    <a:pt x="25431" y="195175"/>
                  </a:lnTo>
                  <a:lnTo>
                    <a:pt x="49069" y="235124"/>
                  </a:lnTo>
                  <a:lnTo>
                    <a:pt x="82821" y="271215"/>
                  </a:lnTo>
                  <a:lnTo>
                    <a:pt x="128206" y="300428"/>
                  </a:lnTo>
                  <a:lnTo>
                    <a:pt x="144056" y="304028"/>
                  </a:lnTo>
                  <a:lnTo>
                    <a:pt x="152134" y="303128"/>
                  </a:lnTo>
                  <a:lnTo>
                    <a:pt x="159905" y="300428"/>
                  </a:lnTo>
                  <a:lnTo>
                    <a:pt x="183326" y="285353"/>
                  </a:lnTo>
                  <a:lnTo>
                    <a:pt x="141236" y="285353"/>
                  </a:lnTo>
                  <a:lnTo>
                    <a:pt x="136486" y="283079"/>
                  </a:lnTo>
                  <a:lnTo>
                    <a:pt x="88344" y="250399"/>
                  </a:lnTo>
                  <a:lnTo>
                    <a:pt x="54823" y="209295"/>
                  </a:lnTo>
                  <a:lnTo>
                    <a:pt x="33642" y="164452"/>
                  </a:lnTo>
                  <a:lnTo>
                    <a:pt x="22526" y="120556"/>
                  </a:lnTo>
                  <a:lnTo>
                    <a:pt x="19212" y="82407"/>
                  </a:lnTo>
                  <a:lnTo>
                    <a:pt x="19138" y="75028"/>
                  </a:lnTo>
                  <a:lnTo>
                    <a:pt x="23698" y="68602"/>
                  </a:lnTo>
                  <a:lnTo>
                    <a:pt x="141351" y="18716"/>
                  </a:lnTo>
                  <a:lnTo>
                    <a:pt x="195955" y="18716"/>
                  </a:lnTo>
                  <a:lnTo>
                    <a:pt x="159067" y="3057"/>
                  </a:lnTo>
                  <a:lnTo>
                    <a:pt x="151672" y="764"/>
                  </a:lnTo>
                  <a:lnTo>
                    <a:pt x="144056" y="0"/>
                  </a:lnTo>
                  <a:close/>
                </a:path>
                <a:path w="288290" h="304164">
                  <a:moveTo>
                    <a:pt x="195955" y="18716"/>
                  </a:moveTo>
                  <a:lnTo>
                    <a:pt x="146748" y="18716"/>
                  </a:lnTo>
                  <a:lnTo>
                    <a:pt x="264401" y="68602"/>
                  </a:lnTo>
                  <a:lnTo>
                    <a:pt x="268960" y="75028"/>
                  </a:lnTo>
                  <a:lnTo>
                    <a:pt x="265583" y="120556"/>
                  </a:lnTo>
                  <a:lnTo>
                    <a:pt x="254457" y="164452"/>
                  </a:lnTo>
                  <a:lnTo>
                    <a:pt x="233259" y="209295"/>
                  </a:lnTo>
                  <a:lnTo>
                    <a:pt x="199717" y="250399"/>
                  </a:lnTo>
                  <a:lnTo>
                    <a:pt x="151561" y="283079"/>
                  </a:lnTo>
                  <a:lnTo>
                    <a:pt x="146824" y="285353"/>
                  </a:lnTo>
                  <a:lnTo>
                    <a:pt x="183326" y="285353"/>
                  </a:lnTo>
                  <a:lnTo>
                    <a:pt x="239042" y="235124"/>
                  </a:lnTo>
                  <a:lnTo>
                    <a:pt x="262680" y="195175"/>
                  </a:lnTo>
                  <a:lnTo>
                    <a:pt x="277725" y="154391"/>
                  </a:lnTo>
                  <a:lnTo>
                    <a:pt x="285695" y="115794"/>
                  </a:lnTo>
                  <a:lnTo>
                    <a:pt x="288112" y="82407"/>
                  </a:lnTo>
                  <a:lnTo>
                    <a:pt x="286404" y="71194"/>
                  </a:lnTo>
                  <a:lnTo>
                    <a:pt x="281595" y="61437"/>
                  </a:lnTo>
                  <a:lnTo>
                    <a:pt x="274297" y="53583"/>
                  </a:lnTo>
                  <a:lnTo>
                    <a:pt x="265125" y="48079"/>
                  </a:lnTo>
                  <a:lnTo>
                    <a:pt x="195955" y="18716"/>
                  </a:lnTo>
                  <a:close/>
                </a:path>
              </a:pathLst>
            </a:custGeom>
            <a:solidFill>
              <a:srgbClr val="F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54304" y="4533074"/>
              <a:ext cx="1903730" cy="2026285"/>
            </a:xfrm>
            <a:custGeom>
              <a:avLst/>
              <a:gdLst/>
              <a:ahLst/>
              <a:cxnLst/>
              <a:rect l="l" t="t" r="r" b="b"/>
              <a:pathLst>
                <a:path w="1903729" h="2026284">
                  <a:moveTo>
                    <a:pt x="1050734" y="0"/>
                  </a:moveTo>
                  <a:lnTo>
                    <a:pt x="1013421" y="15011"/>
                  </a:lnTo>
                  <a:lnTo>
                    <a:pt x="12661" y="1015771"/>
                  </a:lnTo>
                  <a:lnTo>
                    <a:pt x="0" y="1058786"/>
                  </a:lnTo>
                  <a:lnTo>
                    <a:pt x="1104" y="1066241"/>
                  </a:lnTo>
                  <a:lnTo>
                    <a:pt x="6172" y="1080744"/>
                  </a:lnTo>
                  <a:lnTo>
                    <a:pt x="9931" y="1087285"/>
                  </a:lnTo>
                  <a:lnTo>
                    <a:pt x="14935" y="1093114"/>
                  </a:lnTo>
                  <a:lnTo>
                    <a:pt x="45797" y="1130239"/>
                  </a:lnTo>
                  <a:lnTo>
                    <a:pt x="75426" y="1168263"/>
                  </a:lnTo>
                  <a:lnTo>
                    <a:pt x="103820" y="1207188"/>
                  </a:lnTo>
                  <a:lnTo>
                    <a:pt x="130977" y="1247014"/>
                  </a:lnTo>
                  <a:lnTo>
                    <a:pt x="156895" y="1287741"/>
                  </a:lnTo>
                  <a:lnTo>
                    <a:pt x="181520" y="1329270"/>
                  </a:lnTo>
                  <a:lnTo>
                    <a:pt x="204783" y="1371492"/>
                  </a:lnTo>
                  <a:lnTo>
                    <a:pt x="226685" y="1414409"/>
                  </a:lnTo>
                  <a:lnTo>
                    <a:pt x="247226" y="1458021"/>
                  </a:lnTo>
                  <a:lnTo>
                    <a:pt x="266407" y="1502328"/>
                  </a:lnTo>
                  <a:lnTo>
                    <a:pt x="284174" y="1547216"/>
                  </a:lnTo>
                  <a:lnTo>
                    <a:pt x="300487" y="1592576"/>
                  </a:lnTo>
                  <a:lnTo>
                    <a:pt x="315346" y="1638407"/>
                  </a:lnTo>
                  <a:lnTo>
                    <a:pt x="328751" y="1684710"/>
                  </a:lnTo>
                  <a:lnTo>
                    <a:pt x="340702" y="1731483"/>
                  </a:lnTo>
                  <a:lnTo>
                    <a:pt x="351172" y="1778613"/>
                  </a:lnTo>
                  <a:lnTo>
                    <a:pt x="360133" y="1825979"/>
                  </a:lnTo>
                  <a:lnTo>
                    <a:pt x="367583" y="1873581"/>
                  </a:lnTo>
                  <a:lnTo>
                    <a:pt x="373523" y="1921420"/>
                  </a:lnTo>
                  <a:lnTo>
                    <a:pt x="377952" y="1969495"/>
                  </a:lnTo>
                  <a:lnTo>
                    <a:pt x="378523" y="1977149"/>
                  </a:lnTo>
                  <a:lnTo>
                    <a:pt x="380492" y="1984437"/>
                  </a:lnTo>
                  <a:lnTo>
                    <a:pt x="409308" y="2018786"/>
                  </a:lnTo>
                  <a:lnTo>
                    <a:pt x="431025" y="2025792"/>
                  </a:lnTo>
                  <a:lnTo>
                    <a:pt x="1846313" y="2025792"/>
                  </a:lnTo>
                  <a:lnTo>
                    <a:pt x="1883321" y="2010031"/>
                  </a:lnTo>
                  <a:lnTo>
                    <a:pt x="1903006" y="1970586"/>
                  </a:lnTo>
                  <a:lnTo>
                    <a:pt x="1903260" y="1966508"/>
                  </a:lnTo>
                  <a:lnTo>
                    <a:pt x="1903095" y="1962410"/>
                  </a:lnTo>
                  <a:lnTo>
                    <a:pt x="1900458" y="1908783"/>
                  </a:lnTo>
                  <a:lnTo>
                    <a:pt x="1896878" y="1855237"/>
                  </a:lnTo>
                  <a:lnTo>
                    <a:pt x="1892356" y="1801772"/>
                  </a:lnTo>
                  <a:lnTo>
                    <a:pt x="1886892" y="1748386"/>
                  </a:lnTo>
                  <a:lnTo>
                    <a:pt x="1880489" y="1695080"/>
                  </a:lnTo>
                  <a:lnTo>
                    <a:pt x="1873143" y="1641896"/>
                  </a:lnTo>
                  <a:lnTo>
                    <a:pt x="1864866" y="1588873"/>
                  </a:lnTo>
                  <a:lnTo>
                    <a:pt x="1855657" y="1536013"/>
                  </a:lnTo>
                  <a:lnTo>
                    <a:pt x="1845515" y="1483316"/>
                  </a:lnTo>
                  <a:lnTo>
                    <a:pt x="1834438" y="1430782"/>
                  </a:lnTo>
                  <a:lnTo>
                    <a:pt x="1822444" y="1378447"/>
                  </a:lnTo>
                  <a:lnTo>
                    <a:pt x="1809536" y="1326357"/>
                  </a:lnTo>
                  <a:lnTo>
                    <a:pt x="1795713" y="1274511"/>
                  </a:lnTo>
                  <a:lnTo>
                    <a:pt x="1780976" y="1222908"/>
                  </a:lnTo>
                  <a:lnTo>
                    <a:pt x="1765325" y="1171549"/>
                  </a:lnTo>
                  <a:lnTo>
                    <a:pt x="1748773" y="1120475"/>
                  </a:lnTo>
                  <a:lnTo>
                    <a:pt x="1731332" y="1069726"/>
                  </a:lnTo>
                  <a:lnTo>
                    <a:pt x="1713002" y="1019301"/>
                  </a:lnTo>
                  <a:lnTo>
                    <a:pt x="1693781" y="969198"/>
                  </a:lnTo>
                  <a:lnTo>
                    <a:pt x="1673669" y="919416"/>
                  </a:lnTo>
                  <a:lnTo>
                    <a:pt x="1652688" y="869996"/>
                  </a:lnTo>
                  <a:lnTo>
                    <a:pt x="1630849" y="820976"/>
                  </a:lnTo>
                  <a:lnTo>
                    <a:pt x="1608153" y="772357"/>
                  </a:lnTo>
                  <a:lnTo>
                    <a:pt x="1584601" y="724136"/>
                  </a:lnTo>
                  <a:lnTo>
                    <a:pt x="1560195" y="676313"/>
                  </a:lnTo>
                  <a:lnTo>
                    <a:pt x="1534945" y="628932"/>
                  </a:lnTo>
                  <a:lnTo>
                    <a:pt x="1508878" y="582024"/>
                  </a:lnTo>
                  <a:lnTo>
                    <a:pt x="1481992" y="535589"/>
                  </a:lnTo>
                  <a:lnTo>
                    <a:pt x="1454288" y="489629"/>
                  </a:lnTo>
                  <a:lnTo>
                    <a:pt x="1425765" y="444144"/>
                  </a:lnTo>
                  <a:lnTo>
                    <a:pt x="1396445" y="399168"/>
                  </a:lnTo>
                  <a:lnTo>
                    <a:pt x="1366351" y="354735"/>
                  </a:lnTo>
                  <a:lnTo>
                    <a:pt x="1335484" y="310845"/>
                  </a:lnTo>
                  <a:lnTo>
                    <a:pt x="1303845" y="267501"/>
                  </a:lnTo>
                  <a:lnTo>
                    <a:pt x="1271435" y="224701"/>
                  </a:lnTo>
                  <a:lnTo>
                    <a:pt x="1238269" y="182478"/>
                  </a:lnTo>
                  <a:lnTo>
                    <a:pt x="1204382" y="140865"/>
                  </a:lnTo>
                  <a:lnTo>
                    <a:pt x="1169772" y="99862"/>
                  </a:lnTo>
                  <a:lnTo>
                    <a:pt x="1134439" y="59469"/>
                  </a:lnTo>
                  <a:lnTo>
                    <a:pt x="1098384" y="19685"/>
                  </a:lnTo>
                  <a:lnTo>
                    <a:pt x="1062990" y="647"/>
                  </a:lnTo>
                  <a:lnTo>
                    <a:pt x="1058938" y="165"/>
                  </a:lnTo>
                  <a:lnTo>
                    <a:pt x="1050734" y="0"/>
                  </a:lnTo>
                  <a:close/>
                </a:path>
              </a:pathLst>
            </a:custGeom>
            <a:solidFill>
              <a:srgbClr val="3051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68514" y="5622797"/>
              <a:ext cx="307340" cy="246379"/>
            </a:xfrm>
            <a:custGeom>
              <a:avLst/>
              <a:gdLst/>
              <a:ahLst/>
              <a:cxnLst/>
              <a:rect l="l" t="t" r="r" b="b"/>
              <a:pathLst>
                <a:path w="307340" h="246379">
                  <a:moveTo>
                    <a:pt x="247738" y="84518"/>
                  </a:moveTo>
                  <a:lnTo>
                    <a:pt x="182575" y="84518"/>
                  </a:lnTo>
                  <a:lnTo>
                    <a:pt x="172696" y="86141"/>
                  </a:lnTo>
                  <a:lnTo>
                    <a:pt x="164068" y="90703"/>
                  </a:lnTo>
                  <a:lnTo>
                    <a:pt x="157311" y="97741"/>
                  </a:lnTo>
                  <a:lnTo>
                    <a:pt x="153047" y="106794"/>
                  </a:lnTo>
                  <a:lnTo>
                    <a:pt x="142621" y="143154"/>
                  </a:lnTo>
                  <a:lnTo>
                    <a:pt x="134583" y="149147"/>
                  </a:lnTo>
                  <a:lnTo>
                    <a:pt x="128368" y="156998"/>
                  </a:lnTo>
                  <a:lnTo>
                    <a:pt x="124358" y="166319"/>
                  </a:lnTo>
                  <a:lnTo>
                    <a:pt x="122936" y="176720"/>
                  </a:lnTo>
                  <a:lnTo>
                    <a:pt x="122936" y="242409"/>
                  </a:lnTo>
                  <a:lnTo>
                    <a:pt x="126390" y="245868"/>
                  </a:lnTo>
                  <a:lnTo>
                    <a:pt x="134848" y="245868"/>
                  </a:lnTo>
                  <a:lnTo>
                    <a:pt x="138303" y="242409"/>
                  </a:lnTo>
                  <a:lnTo>
                    <a:pt x="138303" y="222808"/>
                  </a:lnTo>
                  <a:lnTo>
                    <a:pt x="307340" y="222808"/>
                  </a:lnTo>
                  <a:lnTo>
                    <a:pt x="307340" y="207454"/>
                  </a:lnTo>
                  <a:lnTo>
                    <a:pt x="138303" y="207454"/>
                  </a:lnTo>
                  <a:lnTo>
                    <a:pt x="138303" y="176720"/>
                  </a:lnTo>
                  <a:lnTo>
                    <a:pt x="140115" y="167750"/>
                  </a:lnTo>
                  <a:lnTo>
                    <a:pt x="145056" y="160423"/>
                  </a:lnTo>
                  <a:lnTo>
                    <a:pt x="152383" y="155482"/>
                  </a:lnTo>
                  <a:lnTo>
                    <a:pt x="161353" y="153670"/>
                  </a:lnTo>
                  <a:lnTo>
                    <a:pt x="299249" y="153670"/>
                  </a:lnTo>
                  <a:lnTo>
                    <a:pt x="295665" y="149147"/>
                  </a:lnTo>
                  <a:lnTo>
                    <a:pt x="287642" y="143154"/>
                  </a:lnTo>
                  <a:lnTo>
                    <a:pt x="286257" y="138303"/>
                  </a:lnTo>
                  <a:lnTo>
                    <a:pt x="160007" y="138303"/>
                  </a:lnTo>
                  <a:lnTo>
                    <a:pt x="169659" y="104444"/>
                  </a:lnTo>
                  <a:lnTo>
                    <a:pt x="175704" y="99885"/>
                  </a:lnTo>
                  <a:lnTo>
                    <a:pt x="274008" y="99885"/>
                  </a:lnTo>
                  <a:lnTo>
                    <a:pt x="272997" y="97741"/>
                  </a:lnTo>
                  <a:lnTo>
                    <a:pt x="266231" y="90703"/>
                  </a:lnTo>
                  <a:lnTo>
                    <a:pt x="257601" y="86141"/>
                  </a:lnTo>
                  <a:lnTo>
                    <a:pt x="247738" y="84518"/>
                  </a:lnTo>
                  <a:close/>
                </a:path>
                <a:path w="307340" h="246379">
                  <a:moveTo>
                    <a:pt x="307340" y="222808"/>
                  </a:moveTo>
                  <a:lnTo>
                    <a:pt x="291960" y="222808"/>
                  </a:lnTo>
                  <a:lnTo>
                    <a:pt x="291960" y="242409"/>
                  </a:lnTo>
                  <a:lnTo>
                    <a:pt x="295427" y="245868"/>
                  </a:lnTo>
                  <a:lnTo>
                    <a:pt x="303872" y="245868"/>
                  </a:lnTo>
                  <a:lnTo>
                    <a:pt x="307340" y="242409"/>
                  </a:lnTo>
                  <a:lnTo>
                    <a:pt x="307340" y="222808"/>
                  </a:lnTo>
                  <a:close/>
                </a:path>
                <a:path w="307340" h="246379">
                  <a:moveTo>
                    <a:pt x="299249" y="153670"/>
                  </a:moveTo>
                  <a:lnTo>
                    <a:pt x="268922" y="153670"/>
                  </a:lnTo>
                  <a:lnTo>
                    <a:pt x="277885" y="155482"/>
                  </a:lnTo>
                  <a:lnTo>
                    <a:pt x="285208" y="160423"/>
                  </a:lnTo>
                  <a:lnTo>
                    <a:pt x="290148" y="167750"/>
                  </a:lnTo>
                  <a:lnTo>
                    <a:pt x="291960" y="176720"/>
                  </a:lnTo>
                  <a:lnTo>
                    <a:pt x="291960" y="207454"/>
                  </a:lnTo>
                  <a:lnTo>
                    <a:pt x="307340" y="207454"/>
                  </a:lnTo>
                  <a:lnTo>
                    <a:pt x="307340" y="176720"/>
                  </a:lnTo>
                  <a:lnTo>
                    <a:pt x="305910" y="166319"/>
                  </a:lnTo>
                  <a:lnTo>
                    <a:pt x="301886" y="156998"/>
                  </a:lnTo>
                  <a:lnTo>
                    <a:pt x="299249" y="153670"/>
                  </a:lnTo>
                  <a:close/>
                </a:path>
                <a:path w="307340" h="246379">
                  <a:moveTo>
                    <a:pt x="164528" y="169037"/>
                  </a:moveTo>
                  <a:lnTo>
                    <a:pt x="158165" y="169037"/>
                  </a:lnTo>
                  <a:lnTo>
                    <a:pt x="155460" y="170154"/>
                  </a:lnTo>
                  <a:lnTo>
                    <a:pt x="150952" y="174663"/>
                  </a:lnTo>
                  <a:lnTo>
                    <a:pt x="149834" y="177380"/>
                  </a:lnTo>
                  <a:lnTo>
                    <a:pt x="149834" y="183743"/>
                  </a:lnTo>
                  <a:lnTo>
                    <a:pt x="150952" y="186461"/>
                  </a:lnTo>
                  <a:lnTo>
                    <a:pt x="155460" y="190957"/>
                  </a:lnTo>
                  <a:lnTo>
                    <a:pt x="158165" y="192087"/>
                  </a:lnTo>
                  <a:lnTo>
                    <a:pt x="164528" y="192087"/>
                  </a:lnTo>
                  <a:lnTo>
                    <a:pt x="167246" y="190957"/>
                  </a:lnTo>
                  <a:lnTo>
                    <a:pt x="171754" y="186461"/>
                  </a:lnTo>
                  <a:lnTo>
                    <a:pt x="172872" y="183743"/>
                  </a:lnTo>
                  <a:lnTo>
                    <a:pt x="172872" y="177380"/>
                  </a:lnTo>
                  <a:lnTo>
                    <a:pt x="171754" y="174663"/>
                  </a:lnTo>
                  <a:lnTo>
                    <a:pt x="167246" y="170154"/>
                  </a:lnTo>
                  <a:lnTo>
                    <a:pt x="164528" y="169037"/>
                  </a:lnTo>
                  <a:close/>
                </a:path>
                <a:path w="307340" h="246379">
                  <a:moveTo>
                    <a:pt x="272097" y="169037"/>
                  </a:moveTo>
                  <a:lnTo>
                    <a:pt x="265734" y="169037"/>
                  </a:lnTo>
                  <a:lnTo>
                    <a:pt x="263017" y="170154"/>
                  </a:lnTo>
                  <a:lnTo>
                    <a:pt x="258521" y="174663"/>
                  </a:lnTo>
                  <a:lnTo>
                    <a:pt x="257390" y="177380"/>
                  </a:lnTo>
                  <a:lnTo>
                    <a:pt x="257390" y="183743"/>
                  </a:lnTo>
                  <a:lnTo>
                    <a:pt x="258521" y="186461"/>
                  </a:lnTo>
                  <a:lnTo>
                    <a:pt x="263017" y="190957"/>
                  </a:lnTo>
                  <a:lnTo>
                    <a:pt x="265734" y="192087"/>
                  </a:lnTo>
                  <a:lnTo>
                    <a:pt x="272097" y="192087"/>
                  </a:lnTo>
                  <a:lnTo>
                    <a:pt x="274815" y="190957"/>
                  </a:lnTo>
                  <a:lnTo>
                    <a:pt x="279311" y="186461"/>
                  </a:lnTo>
                  <a:lnTo>
                    <a:pt x="280441" y="183743"/>
                  </a:lnTo>
                  <a:lnTo>
                    <a:pt x="280441" y="177380"/>
                  </a:lnTo>
                  <a:lnTo>
                    <a:pt x="279311" y="174663"/>
                  </a:lnTo>
                  <a:lnTo>
                    <a:pt x="274815" y="170154"/>
                  </a:lnTo>
                  <a:lnTo>
                    <a:pt x="272097" y="169037"/>
                  </a:lnTo>
                  <a:close/>
                </a:path>
                <a:path w="307340" h="246379">
                  <a:moveTo>
                    <a:pt x="124764" y="0"/>
                  </a:moveTo>
                  <a:lnTo>
                    <a:pt x="59639" y="0"/>
                  </a:lnTo>
                  <a:lnTo>
                    <a:pt x="49760" y="1625"/>
                  </a:lnTo>
                  <a:lnTo>
                    <a:pt x="41132" y="6191"/>
                  </a:lnTo>
                  <a:lnTo>
                    <a:pt x="34375" y="13233"/>
                  </a:lnTo>
                  <a:lnTo>
                    <a:pt x="30111" y="22288"/>
                  </a:lnTo>
                  <a:lnTo>
                    <a:pt x="19697" y="58635"/>
                  </a:lnTo>
                  <a:lnTo>
                    <a:pt x="11674" y="64630"/>
                  </a:lnTo>
                  <a:lnTo>
                    <a:pt x="5453" y="72485"/>
                  </a:lnTo>
                  <a:lnTo>
                    <a:pt x="1429" y="81806"/>
                  </a:lnTo>
                  <a:lnTo>
                    <a:pt x="0" y="92202"/>
                  </a:lnTo>
                  <a:lnTo>
                    <a:pt x="0" y="157886"/>
                  </a:lnTo>
                  <a:lnTo>
                    <a:pt x="3467" y="161353"/>
                  </a:lnTo>
                  <a:lnTo>
                    <a:pt x="11912" y="161353"/>
                  </a:lnTo>
                  <a:lnTo>
                    <a:pt x="15367" y="157886"/>
                  </a:lnTo>
                  <a:lnTo>
                    <a:pt x="15367" y="138303"/>
                  </a:lnTo>
                  <a:lnTo>
                    <a:pt x="123710" y="138303"/>
                  </a:lnTo>
                  <a:lnTo>
                    <a:pt x="125476" y="136525"/>
                  </a:lnTo>
                  <a:lnTo>
                    <a:pt x="127406" y="134886"/>
                  </a:lnTo>
                  <a:lnTo>
                    <a:pt x="129425" y="133400"/>
                  </a:lnTo>
                  <a:lnTo>
                    <a:pt x="132397" y="122936"/>
                  </a:lnTo>
                  <a:lnTo>
                    <a:pt x="15367" y="122936"/>
                  </a:lnTo>
                  <a:lnTo>
                    <a:pt x="15367" y="92202"/>
                  </a:lnTo>
                  <a:lnTo>
                    <a:pt x="17179" y="83231"/>
                  </a:lnTo>
                  <a:lnTo>
                    <a:pt x="22120" y="75904"/>
                  </a:lnTo>
                  <a:lnTo>
                    <a:pt x="29447" y="70963"/>
                  </a:lnTo>
                  <a:lnTo>
                    <a:pt x="38417" y="69151"/>
                  </a:lnTo>
                  <a:lnTo>
                    <a:pt x="176755" y="69151"/>
                  </a:lnTo>
                  <a:lnTo>
                    <a:pt x="173736" y="65074"/>
                  </a:lnTo>
                  <a:lnTo>
                    <a:pt x="169557" y="61328"/>
                  </a:lnTo>
                  <a:lnTo>
                    <a:pt x="164706" y="58635"/>
                  </a:lnTo>
                  <a:lnTo>
                    <a:pt x="163316" y="53784"/>
                  </a:lnTo>
                  <a:lnTo>
                    <a:pt x="37071" y="53784"/>
                  </a:lnTo>
                  <a:lnTo>
                    <a:pt x="44856" y="26504"/>
                  </a:lnTo>
                  <a:lnTo>
                    <a:pt x="46774" y="19926"/>
                  </a:lnTo>
                  <a:lnTo>
                    <a:pt x="52781" y="15367"/>
                  </a:lnTo>
                  <a:lnTo>
                    <a:pt x="151033" y="15367"/>
                  </a:lnTo>
                  <a:lnTo>
                    <a:pt x="150028" y="13233"/>
                  </a:lnTo>
                  <a:lnTo>
                    <a:pt x="143271" y="6191"/>
                  </a:lnTo>
                  <a:lnTo>
                    <a:pt x="134643" y="1625"/>
                  </a:lnTo>
                  <a:lnTo>
                    <a:pt x="124764" y="0"/>
                  </a:lnTo>
                  <a:close/>
                </a:path>
                <a:path w="307340" h="246379">
                  <a:moveTo>
                    <a:pt x="274008" y="99885"/>
                  </a:moveTo>
                  <a:lnTo>
                    <a:pt x="254558" y="99885"/>
                  </a:lnTo>
                  <a:lnTo>
                    <a:pt x="260565" y="104444"/>
                  </a:lnTo>
                  <a:lnTo>
                    <a:pt x="262483" y="111023"/>
                  </a:lnTo>
                  <a:lnTo>
                    <a:pt x="270256" y="138303"/>
                  </a:lnTo>
                  <a:lnTo>
                    <a:pt x="286257" y="138303"/>
                  </a:lnTo>
                  <a:lnTo>
                    <a:pt x="277266" y="106794"/>
                  </a:lnTo>
                  <a:lnTo>
                    <a:pt x="274008" y="99885"/>
                  </a:lnTo>
                  <a:close/>
                </a:path>
                <a:path w="307340" h="246379">
                  <a:moveTo>
                    <a:pt x="41605" y="84518"/>
                  </a:moveTo>
                  <a:lnTo>
                    <a:pt x="35242" y="84518"/>
                  </a:lnTo>
                  <a:lnTo>
                    <a:pt x="32524" y="85648"/>
                  </a:lnTo>
                  <a:lnTo>
                    <a:pt x="28016" y="90144"/>
                  </a:lnTo>
                  <a:lnTo>
                    <a:pt x="26898" y="92862"/>
                  </a:lnTo>
                  <a:lnTo>
                    <a:pt x="26898" y="99225"/>
                  </a:lnTo>
                  <a:lnTo>
                    <a:pt x="28016" y="101942"/>
                  </a:lnTo>
                  <a:lnTo>
                    <a:pt x="32524" y="106438"/>
                  </a:lnTo>
                  <a:lnTo>
                    <a:pt x="35242" y="107569"/>
                  </a:lnTo>
                  <a:lnTo>
                    <a:pt x="41605" y="107569"/>
                  </a:lnTo>
                  <a:lnTo>
                    <a:pt x="44323" y="106438"/>
                  </a:lnTo>
                  <a:lnTo>
                    <a:pt x="48818" y="101942"/>
                  </a:lnTo>
                  <a:lnTo>
                    <a:pt x="49949" y="99225"/>
                  </a:lnTo>
                  <a:lnTo>
                    <a:pt x="49949" y="92862"/>
                  </a:lnTo>
                  <a:lnTo>
                    <a:pt x="48818" y="90144"/>
                  </a:lnTo>
                  <a:lnTo>
                    <a:pt x="44323" y="85648"/>
                  </a:lnTo>
                  <a:lnTo>
                    <a:pt x="41605" y="84518"/>
                  </a:lnTo>
                  <a:close/>
                </a:path>
                <a:path w="307340" h="246379">
                  <a:moveTo>
                    <a:pt x="176755" y="69151"/>
                  </a:moveTo>
                  <a:lnTo>
                    <a:pt x="151650" y="69151"/>
                  </a:lnTo>
                  <a:lnTo>
                    <a:pt x="156845" y="71221"/>
                  </a:lnTo>
                  <a:lnTo>
                    <a:pt x="160870" y="74574"/>
                  </a:lnTo>
                  <a:lnTo>
                    <a:pt x="165823" y="71932"/>
                  </a:lnTo>
                  <a:lnTo>
                    <a:pt x="171246" y="70167"/>
                  </a:lnTo>
                  <a:lnTo>
                    <a:pt x="176999" y="69481"/>
                  </a:lnTo>
                  <a:lnTo>
                    <a:pt x="176755" y="69151"/>
                  </a:lnTo>
                  <a:close/>
                </a:path>
                <a:path w="307340" h="246379">
                  <a:moveTo>
                    <a:pt x="151033" y="15367"/>
                  </a:moveTo>
                  <a:lnTo>
                    <a:pt x="131622" y="15367"/>
                  </a:lnTo>
                  <a:lnTo>
                    <a:pt x="137629" y="19926"/>
                  </a:lnTo>
                  <a:lnTo>
                    <a:pt x="139547" y="26504"/>
                  </a:lnTo>
                  <a:lnTo>
                    <a:pt x="147332" y="53784"/>
                  </a:lnTo>
                  <a:lnTo>
                    <a:pt x="163316" y="53784"/>
                  </a:lnTo>
                  <a:lnTo>
                    <a:pt x="154292" y="22288"/>
                  </a:lnTo>
                  <a:lnTo>
                    <a:pt x="151033" y="15367"/>
                  </a:lnTo>
                  <a:close/>
                </a:path>
              </a:pathLst>
            </a:custGeom>
            <a:solidFill>
              <a:srgbClr val="F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24308" y="2354262"/>
            <a:ext cx="1960245" cy="1238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650" spc="85" dirty="0">
                <a:solidFill>
                  <a:srgbClr val="FFD9BD"/>
                </a:solidFill>
                <a:latin typeface="Times New Roman"/>
                <a:cs typeface="Times New Roman"/>
              </a:rPr>
              <a:t>Mental</a:t>
            </a:r>
            <a:r>
              <a:rPr sz="1650" dirty="0">
                <a:solidFill>
                  <a:srgbClr val="FFD9BD"/>
                </a:solidFill>
                <a:latin typeface="Times New Roman"/>
                <a:cs typeface="Times New Roman"/>
              </a:rPr>
              <a:t> </a:t>
            </a:r>
            <a:r>
              <a:rPr sz="1650" spc="75" dirty="0">
                <a:solidFill>
                  <a:srgbClr val="FFD9BD"/>
                </a:solidFill>
                <a:latin typeface="Times New Roman"/>
                <a:cs typeface="Times New Roman"/>
              </a:rPr>
              <a:t>Health</a:t>
            </a:r>
            <a:endParaRPr sz="1650">
              <a:latin typeface="Times New Roman"/>
              <a:cs typeface="Times New Roman"/>
            </a:endParaRPr>
          </a:p>
          <a:p>
            <a:pPr marL="12700" marR="5080" algn="ctr">
              <a:lnSpc>
                <a:spcPct val="136200"/>
              </a:lnSpc>
              <a:spcBef>
                <a:spcPts val="665"/>
              </a:spcBef>
            </a:pP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Monitors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emotional </a:t>
            </a: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patterns</a:t>
            </a:r>
            <a:r>
              <a:rPr sz="1400" spc="-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to</a:t>
            </a:r>
            <a:r>
              <a:rPr sz="1400" spc="-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detect </a:t>
            </a: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depression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and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40" dirty="0">
                <a:solidFill>
                  <a:srgbClr val="F9EEE7"/>
                </a:solidFill>
                <a:latin typeface="Times New Roman"/>
                <a:cs typeface="Times New Roman"/>
              </a:rPr>
              <a:t>anxiety.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7323" y="3671798"/>
            <a:ext cx="2294255" cy="615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7625">
              <a:lnSpc>
                <a:spcPct val="138400"/>
              </a:lnSpc>
              <a:spcBef>
                <a:spcPts val="90"/>
              </a:spcBef>
            </a:pP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Provides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objective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data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for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therapists</a:t>
            </a:r>
            <a:r>
              <a:rPr sz="1400" spc="-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and</a:t>
            </a:r>
            <a:r>
              <a:rPr sz="1400" spc="-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psychiatrists.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55428" y="1363662"/>
            <a:ext cx="2112010" cy="1238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650" spc="125" dirty="0">
                <a:solidFill>
                  <a:srgbClr val="FFD9BD"/>
                </a:solidFill>
                <a:latin typeface="Times New Roman"/>
                <a:cs typeface="Times New Roman"/>
              </a:rPr>
              <a:t>Customer</a:t>
            </a:r>
            <a:r>
              <a:rPr sz="1650" spc="-25" dirty="0">
                <a:solidFill>
                  <a:srgbClr val="FFD9BD"/>
                </a:solidFill>
                <a:latin typeface="Times New Roman"/>
                <a:cs typeface="Times New Roman"/>
              </a:rPr>
              <a:t> </a:t>
            </a:r>
            <a:r>
              <a:rPr sz="1650" spc="95" dirty="0">
                <a:solidFill>
                  <a:srgbClr val="FFD9BD"/>
                </a:solidFill>
                <a:latin typeface="Times New Roman"/>
                <a:cs typeface="Times New Roman"/>
              </a:rPr>
              <a:t>Experience</a:t>
            </a:r>
            <a:endParaRPr sz="1650">
              <a:latin typeface="Times New Roman"/>
              <a:cs typeface="Times New Roman"/>
            </a:endParaRPr>
          </a:p>
          <a:p>
            <a:pPr marL="55244" marR="46990" indent="-635" algn="ctr">
              <a:lnSpc>
                <a:spcPct val="136200"/>
              </a:lnSpc>
              <a:spcBef>
                <a:spcPts val="665"/>
              </a:spcBef>
            </a:pP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Gauges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reactions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to </a:t>
            </a:r>
            <a:r>
              <a:rPr sz="1400" spc="114" dirty="0">
                <a:solidFill>
                  <a:srgbClr val="F9EEE7"/>
                </a:solidFill>
                <a:latin typeface="Times New Roman"/>
                <a:cs typeface="Times New Roman"/>
              </a:rPr>
              <a:t>products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and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services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in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real-</a:t>
            </a: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time.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23881" y="2681198"/>
            <a:ext cx="2175510" cy="615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00" marR="5080" indent="-178435">
              <a:lnSpc>
                <a:spcPct val="138400"/>
              </a:lnSpc>
              <a:spcBef>
                <a:spcPts val="90"/>
              </a:spcBef>
            </a:pP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Helps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companies</a:t>
            </a:r>
            <a:r>
              <a:rPr sz="1400" spc="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improve </a:t>
            </a:r>
            <a:r>
              <a:rPr sz="1400" spc="120" dirty="0">
                <a:solidFill>
                  <a:srgbClr val="F9EEE7"/>
                </a:solidFill>
                <a:latin typeface="Times New Roman"/>
                <a:cs typeface="Times New Roman"/>
              </a:rPr>
              <a:t>customer</a:t>
            </a:r>
            <a:r>
              <a:rPr sz="1400" spc="-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9EEE7"/>
                </a:solidFill>
                <a:latin typeface="Times New Roman"/>
                <a:cs typeface="Times New Roman"/>
              </a:rPr>
              <a:t>satisfaction.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27489" y="1363662"/>
            <a:ext cx="1982470" cy="1238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650" spc="75" dirty="0">
                <a:solidFill>
                  <a:srgbClr val="FFD9BD"/>
                </a:solidFill>
                <a:latin typeface="Times New Roman"/>
                <a:cs typeface="Times New Roman"/>
              </a:rPr>
              <a:t>Security</a:t>
            </a:r>
            <a:endParaRPr sz="1650">
              <a:latin typeface="Times New Roman"/>
              <a:cs typeface="Times New Roman"/>
            </a:endParaRPr>
          </a:p>
          <a:p>
            <a:pPr marL="12065" marR="5080" indent="-635" algn="ctr">
              <a:lnSpc>
                <a:spcPct val="136200"/>
              </a:lnSpc>
              <a:spcBef>
                <a:spcPts val="665"/>
              </a:spcBef>
            </a:pP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Identifies</a:t>
            </a:r>
            <a:r>
              <a:rPr sz="1400" spc="3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suspicious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behavior</a:t>
            </a:r>
            <a:r>
              <a:rPr sz="1400" spc="-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at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airports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and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public</a:t>
            </a:r>
            <a:r>
              <a:rPr sz="1400" spc="-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spaces.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09251" y="2681198"/>
            <a:ext cx="2218055" cy="615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5740" marR="5080" indent="-193675">
              <a:lnSpc>
                <a:spcPct val="138400"/>
              </a:lnSpc>
              <a:spcBef>
                <a:spcPts val="90"/>
              </a:spcBef>
            </a:pPr>
            <a:r>
              <a:rPr sz="1400" spc="45" dirty="0">
                <a:solidFill>
                  <a:srgbClr val="F9EEE7"/>
                </a:solidFill>
                <a:latin typeface="Times New Roman"/>
                <a:cs typeface="Times New Roman"/>
              </a:rPr>
              <a:t>Assists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law</a:t>
            </a:r>
            <a:r>
              <a:rPr sz="1400" spc="-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4" dirty="0">
                <a:solidFill>
                  <a:srgbClr val="F9EEE7"/>
                </a:solidFill>
                <a:latin typeface="Times New Roman"/>
                <a:cs typeface="Times New Roman"/>
              </a:rPr>
              <a:t>enforcement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in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interrogation</a:t>
            </a:r>
            <a:r>
              <a:rPr sz="1400" spc="-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F9EEE7"/>
                </a:solidFill>
                <a:latin typeface="Times New Roman"/>
                <a:cs typeface="Times New Roman"/>
              </a:rPr>
              <a:t>analysis.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49525" y="2649537"/>
            <a:ext cx="2152015" cy="942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650" spc="90" dirty="0">
                <a:solidFill>
                  <a:srgbClr val="FFD9BD"/>
                </a:solidFill>
                <a:latin typeface="Times New Roman"/>
                <a:cs typeface="Times New Roman"/>
              </a:rPr>
              <a:t>Automotive</a:t>
            </a:r>
            <a:endParaRPr sz="1650">
              <a:latin typeface="Times New Roman"/>
              <a:cs typeface="Times New Roman"/>
            </a:endParaRPr>
          </a:p>
          <a:p>
            <a:pPr marL="12700" marR="5080" algn="ctr">
              <a:lnSpc>
                <a:spcPct val="133900"/>
              </a:lnSpc>
              <a:spcBef>
                <a:spcPts val="700"/>
              </a:spcBef>
            </a:pP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Detects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driver</a:t>
            </a:r>
            <a:r>
              <a:rPr sz="1400" spc="-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drowsiness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and</a:t>
            </a:r>
            <a:r>
              <a:rPr sz="1400" spc="-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emotional</a:t>
            </a:r>
            <a:r>
              <a:rPr sz="1400" spc="-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distress.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22072" y="3671798"/>
            <a:ext cx="2206625" cy="615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3405" marR="5080" indent="-561340">
              <a:lnSpc>
                <a:spcPct val="138400"/>
              </a:lnSpc>
              <a:spcBef>
                <a:spcPts val="90"/>
              </a:spcBef>
            </a:pP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Adjusts</a:t>
            </a:r>
            <a:r>
              <a:rPr sz="1400" spc="-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vehicle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settings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for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safer</a:t>
            </a:r>
            <a:r>
              <a:rPr sz="1400" spc="-3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F9EEE7"/>
                </a:solidFill>
                <a:latin typeface="Times New Roman"/>
                <a:cs typeface="Times New Roman"/>
              </a:rPr>
              <a:t>driving.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667500"/>
          </a:xfrm>
          <a:custGeom>
            <a:avLst/>
            <a:gdLst/>
            <a:ahLst/>
            <a:cxnLst/>
            <a:rect l="l" t="t" r="r" b="b"/>
            <a:pathLst>
              <a:path w="11430000" h="6667500">
                <a:moveTo>
                  <a:pt x="11430000" y="0"/>
                </a:moveTo>
                <a:lnTo>
                  <a:pt x="0" y="0"/>
                </a:lnTo>
                <a:lnTo>
                  <a:pt x="0" y="6667500"/>
                </a:lnTo>
                <a:lnTo>
                  <a:pt x="11430000" y="6667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13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40" dirty="0"/>
              <a:t>Our</a:t>
            </a:r>
            <a:r>
              <a:rPr spc="-105" dirty="0"/>
              <a:t> </a:t>
            </a:r>
            <a:r>
              <a:rPr spc="229" dirty="0"/>
              <a:t>Implementation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66750" y="1400174"/>
            <a:ext cx="10077450" cy="4271645"/>
            <a:chOff x="666750" y="1400174"/>
            <a:chExt cx="10077450" cy="4271645"/>
          </a:xfrm>
        </p:grpSpPr>
        <p:sp>
          <p:nvSpPr>
            <p:cNvPr id="5" name="object 5"/>
            <p:cNvSpPr/>
            <p:nvPr/>
          </p:nvSpPr>
          <p:spPr>
            <a:xfrm>
              <a:off x="2552700" y="1400174"/>
              <a:ext cx="1256665" cy="1033144"/>
            </a:xfrm>
            <a:custGeom>
              <a:avLst/>
              <a:gdLst/>
              <a:ahLst/>
              <a:cxnLst/>
              <a:rect l="l" t="t" r="r" b="b"/>
              <a:pathLst>
                <a:path w="1256664" h="1033144">
                  <a:moveTo>
                    <a:pt x="628281" y="0"/>
                  </a:moveTo>
                  <a:lnTo>
                    <a:pt x="0" y="1032865"/>
                  </a:lnTo>
                  <a:lnTo>
                    <a:pt x="1256550" y="1032865"/>
                  </a:lnTo>
                  <a:lnTo>
                    <a:pt x="628281" y="0"/>
                  </a:lnTo>
                  <a:close/>
                </a:path>
              </a:pathLst>
            </a:custGeom>
            <a:solidFill>
              <a:srgbClr val="3051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48000" y="1942985"/>
              <a:ext cx="256540" cy="199390"/>
            </a:xfrm>
            <a:custGeom>
              <a:avLst/>
              <a:gdLst/>
              <a:ahLst/>
              <a:cxnLst/>
              <a:rect l="l" t="t" r="r" b="b"/>
              <a:pathLst>
                <a:path w="256539" h="199389">
                  <a:moveTo>
                    <a:pt x="27609" y="28460"/>
                  </a:moveTo>
                  <a:lnTo>
                    <a:pt x="7962" y="28460"/>
                  </a:lnTo>
                  <a:lnTo>
                    <a:pt x="0" y="36423"/>
                  </a:lnTo>
                  <a:lnTo>
                    <a:pt x="0" y="56070"/>
                  </a:lnTo>
                  <a:lnTo>
                    <a:pt x="7962" y="64033"/>
                  </a:lnTo>
                  <a:lnTo>
                    <a:pt x="18097" y="64033"/>
                  </a:lnTo>
                  <a:lnTo>
                    <a:pt x="38417" y="175818"/>
                  </a:lnTo>
                  <a:lnTo>
                    <a:pt x="66433" y="199212"/>
                  </a:lnTo>
                  <a:lnTo>
                    <a:pt x="189699" y="199212"/>
                  </a:lnTo>
                  <a:lnTo>
                    <a:pt x="199524" y="197464"/>
                  </a:lnTo>
                  <a:lnTo>
                    <a:pt x="207927" y="192601"/>
                  </a:lnTo>
                  <a:lnTo>
                    <a:pt x="214220" y="185196"/>
                  </a:lnTo>
                  <a:lnTo>
                    <a:pt x="214298" y="184988"/>
                  </a:lnTo>
                  <a:lnTo>
                    <a:pt x="59537" y="184988"/>
                  </a:lnTo>
                  <a:lnTo>
                    <a:pt x="53670" y="180047"/>
                  </a:lnTo>
                  <a:lnTo>
                    <a:pt x="52425" y="173291"/>
                  </a:lnTo>
                  <a:lnTo>
                    <a:pt x="35048" y="77597"/>
                  </a:lnTo>
                  <a:lnTo>
                    <a:pt x="57861" y="77597"/>
                  </a:lnTo>
                  <a:lnTo>
                    <a:pt x="32016" y="56921"/>
                  </a:lnTo>
                  <a:lnTo>
                    <a:pt x="34239" y="53936"/>
                  </a:lnTo>
                  <a:lnTo>
                    <a:pt x="35572" y="50241"/>
                  </a:lnTo>
                  <a:lnTo>
                    <a:pt x="35572" y="36423"/>
                  </a:lnTo>
                  <a:lnTo>
                    <a:pt x="27609" y="28460"/>
                  </a:lnTo>
                  <a:close/>
                </a:path>
                <a:path w="256539" h="199389">
                  <a:moveTo>
                    <a:pt x="235570" y="77597"/>
                  </a:moveTo>
                  <a:lnTo>
                    <a:pt x="221094" y="77597"/>
                  </a:lnTo>
                  <a:lnTo>
                    <a:pt x="203708" y="173291"/>
                  </a:lnTo>
                  <a:lnTo>
                    <a:pt x="202463" y="180047"/>
                  </a:lnTo>
                  <a:lnTo>
                    <a:pt x="196596" y="184988"/>
                  </a:lnTo>
                  <a:lnTo>
                    <a:pt x="214298" y="184988"/>
                  </a:lnTo>
                  <a:lnTo>
                    <a:pt x="217716" y="175818"/>
                  </a:lnTo>
                  <a:lnTo>
                    <a:pt x="235570" y="77597"/>
                  </a:lnTo>
                  <a:close/>
                </a:path>
                <a:path w="256539" h="199389">
                  <a:moveTo>
                    <a:pt x="57861" y="77597"/>
                  </a:moveTo>
                  <a:lnTo>
                    <a:pt x="35102" y="77597"/>
                  </a:lnTo>
                  <a:lnTo>
                    <a:pt x="62829" y="99783"/>
                  </a:lnTo>
                  <a:lnTo>
                    <a:pt x="74364" y="105335"/>
                  </a:lnTo>
                  <a:lnTo>
                    <a:pt x="86587" y="105335"/>
                  </a:lnTo>
                  <a:lnTo>
                    <a:pt x="97743" y="100171"/>
                  </a:lnTo>
                  <a:lnTo>
                    <a:pt x="98091" y="99783"/>
                  </a:lnTo>
                  <a:lnTo>
                    <a:pt x="104997" y="91400"/>
                  </a:lnTo>
                  <a:lnTo>
                    <a:pt x="77427" y="91400"/>
                  </a:lnTo>
                  <a:lnTo>
                    <a:pt x="71640" y="88620"/>
                  </a:lnTo>
                  <a:lnTo>
                    <a:pt x="57861" y="77597"/>
                  </a:lnTo>
                  <a:close/>
                </a:path>
                <a:path w="256539" h="199389">
                  <a:moveTo>
                    <a:pt x="143978" y="46062"/>
                  </a:moveTo>
                  <a:lnTo>
                    <a:pt x="128066" y="46062"/>
                  </a:lnTo>
                  <a:lnTo>
                    <a:pt x="150164" y="90271"/>
                  </a:lnTo>
                  <a:lnTo>
                    <a:pt x="158342" y="100171"/>
                  </a:lnTo>
                  <a:lnTo>
                    <a:pt x="169521" y="105335"/>
                  </a:lnTo>
                  <a:lnTo>
                    <a:pt x="181804" y="105335"/>
                  </a:lnTo>
                  <a:lnTo>
                    <a:pt x="193382" y="99783"/>
                  </a:lnTo>
                  <a:lnTo>
                    <a:pt x="203853" y="91400"/>
                  </a:lnTo>
                  <a:lnTo>
                    <a:pt x="172559" y="91400"/>
                  </a:lnTo>
                  <a:lnTo>
                    <a:pt x="166971" y="88820"/>
                  </a:lnTo>
                  <a:lnTo>
                    <a:pt x="162877" y="83870"/>
                  </a:lnTo>
                  <a:lnTo>
                    <a:pt x="143978" y="46062"/>
                  </a:lnTo>
                  <a:close/>
                </a:path>
                <a:path w="256539" h="199389">
                  <a:moveTo>
                    <a:pt x="137896" y="0"/>
                  </a:moveTo>
                  <a:lnTo>
                    <a:pt x="118237" y="0"/>
                  </a:lnTo>
                  <a:lnTo>
                    <a:pt x="110286" y="7962"/>
                  </a:lnTo>
                  <a:lnTo>
                    <a:pt x="110286" y="24193"/>
                  </a:lnTo>
                  <a:lnTo>
                    <a:pt x="113665" y="29794"/>
                  </a:lnTo>
                  <a:lnTo>
                    <a:pt x="118732" y="32905"/>
                  </a:lnTo>
                  <a:lnTo>
                    <a:pt x="93256" y="83870"/>
                  </a:lnTo>
                  <a:lnTo>
                    <a:pt x="89162" y="88820"/>
                  </a:lnTo>
                  <a:lnTo>
                    <a:pt x="83573" y="91400"/>
                  </a:lnTo>
                  <a:lnTo>
                    <a:pt x="104997" y="91400"/>
                  </a:lnTo>
                  <a:lnTo>
                    <a:pt x="105926" y="90271"/>
                  </a:lnTo>
                  <a:lnTo>
                    <a:pt x="106669" y="88820"/>
                  </a:lnTo>
                  <a:lnTo>
                    <a:pt x="128066" y="46062"/>
                  </a:lnTo>
                  <a:lnTo>
                    <a:pt x="143978" y="46062"/>
                  </a:lnTo>
                  <a:lnTo>
                    <a:pt x="137401" y="32905"/>
                  </a:lnTo>
                  <a:lnTo>
                    <a:pt x="142468" y="29794"/>
                  </a:lnTo>
                  <a:lnTo>
                    <a:pt x="145816" y="24193"/>
                  </a:lnTo>
                  <a:lnTo>
                    <a:pt x="145846" y="7962"/>
                  </a:lnTo>
                  <a:lnTo>
                    <a:pt x="137896" y="0"/>
                  </a:lnTo>
                  <a:close/>
                </a:path>
                <a:path w="256539" h="199389">
                  <a:moveTo>
                    <a:pt x="248170" y="28460"/>
                  </a:moveTo>
                  <a:lnTo>
                    <a:pt x="228523" y="28460"/>
                  </a:lnTo>
                  <a:lnTo>
                    <a:pt x="220560" y="36423"/>
                  </a:lnTo>
                  <a:lnTo>
                    <a:pt x="220560" y="50241"/>
                  </a:lnTo>
                  <a:lnTo>
                    <a:pt x="221894" y="53936"/>
                  </a:lnTo>
                  <a:lnTo>
                    <a:pt x="224116" y="56921"/>
                  </a:lnTo>
                  <a:lnTo>
                    <a:pt x="184492" y="88620"/>
                  </a:lnTo>
                  <a:lnTo>
                    <a:pt x="178706" y="91400"/>
                  </a:lnTo>
                  <a:lnTo>
                    <a:pt x="203853" y="91400"/>
                  </a:lnTo>
                  <a:lnTo>
                    <a:pt x="221094" y="77597"/>
                  </a:lnTo>
                  <a:lnTo>
                    <a:pt x="235570" y="77597"/>
                  </a:lnTo>
                  <a:lnTo>
                    <a:pt x="238036" y="64033"/>
                  </a:lnTo>
                  <a:lnTo>
                    <a:pt x="248170" y="64033"/>
                  </a:lnTo>
                  <a:lnTo>
                    <a:pt x="256133" y="56070"/>
                  </a:lnTo>
                  <a:lnTo>
                    <a:pt x="256133" y="36423"/>
                  </a:lnTo>
                  <a:lnTo>
                    <a:pt x="248170" y="28460"/>
                  </a:lnTo>
                  <a:close/>
                </a:path>
              </a:pathLst>
            </a:custGeom>
            <a:solidFill>
              <a:srgbClr val="F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48100" y="2452687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6889204" y="0"/>
                  </a:moveTo>
                  <a:lnTo>
                    <a:pt x="6896" y="0"/>
                  </a:lnTo>
                  <a:lnTo>
                    <a:pt x="4648" y="457"/>
                  </a:lnTo>
                  <a:lnTo>
                    <a:pt x="927" y="2324"/>
                  </a:lnTo>
                  <a:lnTo>
                    <a:pt x="0" y="3454"/>
                  </a:lnTo>
                  <a:lnTo>
                    <a:pt x="0" y="4762"/>
                  </a:lnTo>
                  <a:lnTo>
                    <a:pt x="0" y="6083"/>
                  </a:lnTo>
                  <a:lnTo>
                    <a:pt x="927" y="7200"/>
                  </a:lnTo>
                  <a:lnTo>
                    <a:pt x="4648" y="9055"/>
                  </a:lnTo>
                  <a:lnTo>
                    <a:pt x="6896" y="9525"/>
                  </a:lnTo>
                  <a:lnTo>
                    <a:pt x="6889204" y="9525"/>
                  </a:lnTo>
                  <a:lnTo>
                    <a:pt x="6891451" y="9055"/>
                  </a:lnTo>
                  <a:lnTo>
                    <a:pt x="6895173" y="7200"/>
                  </a:lnTo>
                  <a:lnTo>
                    <a:pt x="6896100" y="6083"/>
                  </a:lnTo>
                  <a:lnTo>
                    <a:pt x="6896100" y="3454"/>
                  </a:lnTo>
                  <a:lnTo>
                    <a:pt x="6895173" y="2324"/>
                  </a:lnTo>
                  <a:lnTo>
                    <a:pt x="6891451" y="457"/>
                  </a:lnTo>
                  <a:lnTo>
                    <a:pt x="6889204" y="0"/>
                  </a:lnTo>
                  <a:close/>
                </a:path>
              </a:pathLst>
            </a:custGeom>
            <a:solidFill>
              <a:srgbClr val="4A6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4050" y="2476499"/>
              <a:ext cx="2513330" cy="1033144"/>
            </a:xfrm>
            <a:custGeom>
              <a:avLst/>
              <a:gdLst/>
              <a:ahLst/>
              <a:cxnLst/>
              <a:rect l="l" t="t" r="r" b="b"/>
              <a:pathLst>
                <a:path w="2513329" h="1033145">
                  <a:moveTo>
                    <a:pt x="1891296" y="0"/>
                  </a:moveTo>
                  <a:lnTo>
                    <a:pt x="621969" y="0"/>
                  </a:lnTo>
                  <a:lnTo>
                    <a:pt x="0" y="1032865"/>
                  </a:lnTo>
                  <a:lnTo>
                    <a:pt x="2513266" y="1032865"/>
                  </a:lnTo>
                  <a:lnTo>
                    <a:pt x="1891296" y="0"/>
                  </a:lnTo>
                  <a:close/>
                </a:path>
              </a:pathLst>
            </a:custGeom>
            <a:solidFill>
              <a:srgbClr val="3051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96031" y="2867024"/>
              <a:ext cx="160655" cy="256540"/>
            </a:xfrm>
            <a:custGeom>
              <a:avLst/>
              <a:gdLst/>
              <a:ahLst/>
              <a:cxnLst/>
              <a:rect l="l" t="t" r="r" b="b"/>
              <a:pathLst>
                <a:path w="160654" h="256539">
                  <a:moveTo>
                    <a:pt x="128066" y="0"/>
                  </a:moveTo>
                  <a:lnTo>
                    <a:pt x="32004" y="0"/>
                  </a:lnTo>
                  <a:lnTo>
                    <a:pt x="19556" y="2520"/>
                  </a:lnTo>
                  <a:lnTo>
                    <a:pt x="9382" y="9388"/>
                  </a:lnTo>
                  <a:lnTo>
                    <a:pt x="2518" y="19566"/>
                  </a:lnTo>
                  <a:lnTo>
                    <a:pt x="0" y="32016"/>
                  </a:lnTo>
                  <a:lnTo>
                    <a:pt x="0" y="224116"/>
                  </a:lnTo>
                  <a:lnTo>
                    <a:pt x="2518" y="236572"/>
                  </a:lnTo>
                  <a:lnTo>
                    <a:pt x="9382" y="246749"/>
                  </a:lnTo>
                  <a:lnTo>
                    <a:pt x="19556" y="253615"/>
                  </a:lnTo>
                  <a:lnTo>
                    <a:pt x="32004" y="256133"/>
                  </a:lnTo>
                  <a:lnTo>
                    <a:pt x="128066" y="256133"/>
                  </a:lnTo>
                  <a:lnTo>
                    <a:pt x="140514" y="253615"/>
                  </a:lnTo>
                  <a:lnTo>
                    <a:pt x="150688" y="246749"/>
                  </a:lnTo>
                  <a:lnTo>
                    <a:pt x="155160" y="240118"/>
                  </a:lnTo>
                  <a:lnTo>
                    <a:pt x="23152" y="240118"/>
                  </a:lnTo>
                  <a:lnTo>
                    <a:pt x="16002" y="232968"/>
                  </a:lnTo>
                  <a:lnTo>
                    <a:pt x="16002" y="23164"/>
                  </a:lnTo>
                  <a:lnTo>
                    <a:pt x="23152" y="16014"/>
                  </a:lnTo>
                  <a:lnTo>
                    <a:pt x="155157" y="16014"/>
                  </a:lnTo>
                  <a:lnTo>
                    <a:pt x="150688" y="9388"/>
                  </a:lnTo>
                  <a:lnTo>
                    <a:pt x="140514" y="2520"/>
                  </a:lnTo>
                  <a:lnTo>
                    <a:pt x="128066" y="0"/>
                  </a:lnTo>
                  <a:close/>
                </a:path>
                <a:path w="160654" h="256539">
                  <a:moveTo>
                    <a:pt x="155157" y="16014"/>
                  </a:moveTo>
                  <a:lnTo>
                    <a:pt x="136918" y="16014"/>
                  </a:lnTo>
                  <a:lnTo>
                    <a:pt x="144068" y="23164"/>
                  </a:lnTo>
                  <a:lnTo>
                    <a:pt x="144068" y="232968"/>
                  </a:lnTo>
                  <a:lnTo>
                    <a:pt x="136918" y="240118"/>
                  </a:lnTo>
                  <a:lnTo>
                    <a:pt x="155160" y="240118"/>
                  </a:lnTo>
                  <a:lnTo>
                    <a:pt x="157552" y="236572"/>
                  </a:lnTo>
                  <a:lnTo>
                    <a:pt x="160070" y="224116"/>
                  </a:lnTo>
                  <a:lnTo>
                    <a:pt x="160070" y="32016"/>
                  </a:lnTo>
                  <a:lnTo>
                    <a:pt x="157552" y="19566"/>
                  </a:lnTo>
                  <a:lnTo>
                    <a:pt x="155157" y="16014"/>
                  </a:lnTo>
                  <a:close/>
                </a:path>
                <a:path w="160654" h="256539">
                  <a:moveTo>
                    <a:pt x="100444" y="200101"/>
                  </a:moveTo>
                  <a:lnTo>
                    <a:pt x="59626" y="200101"/>
                  </a:lnTo>
                  <a:lnTo>
                    <a:pt x="56019" y="203708"/>
                  </a:lnTo>
                  <a:lnTo>
                    <a:pt x="56019" y="212509"/>
                  </a:lnTo>
                  <a:lnTo>
                    <a:pt x="59626" y="216103"/>
                  </a:lnTo>
                  <a:lnTo>
                    <a:pt x="100444" y="216103"/>
                  </a:lnTo>
                  <a:lnTo>
                    <a:pt x="104051" y="212509"/>
                  </a:lnTo>
                  <a:lnTo>
                    <a:pt x="104051" y="203708"/>
                  </a:lnTo>
                  <a:lnTo>
                    <a:pt x="100444" y="200101"/>
                  </a:lnTo>
                  <a:close/>
                </a:path>
              </a:pathLst>
            </a:custGeom>
            <a:solidFill>
              <a:srgbClr val="F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6750" y="3529012"/>
              <a:ext cx="6267450" cy="9525"/>
            </a:xfrm>
            <a:custGeom>
              <a:avLst/>
              <a:gdLst/>
              <a:ahLst/>
              <a:cxnLst/>
              <a:rect l="l" t="t" r="r" b="b"/>
              <a:pathLst>
                <a:path w="6267450" h="9525">
                  <a:moveTo>
                    <a:pt x="6260553" y="0"/>
                  </a:moveTo>
                  <a:lnTo>
                    <a:pt x="6896" y="0"/>
                  </a:lnTo>
                  <a:lnTo>
                    <a:pt x="4648" y="457"/>
                  </a:lnTo>
                  <a:lnTo>
                    <a:pt x="927" y="2324"/>
                  </a:lnTo>
                  <a:lnTo>
                    <a:pt x="0" y="3454"/>
                  </a:lnTo>
                  <a:lnTo>
                    <a:pt x="0" y="4762"/>
                  </a:lnTo>
                  <a:lnTo>
                    <a:pt x="0" y="6083"/>
                  </a:lnTo>
                  <a:lnTo>
                    <a:pt x="927" y="7200"/>
                  </a:lnTo>
                  <a:lnTo>
                    <a:pt x="4648" y="9055"/>
                  </a:lnTo>
                  <a:lnTo>
                    <a:pt x="6896" y="9525"/>
                  </a:lnTo>
                  <a:lnTo>
                    <a:pt x="6260553" y="9525"/>
                  </a:lnTo>
                  <a:lnTo>
                    <a:pt x="6262801" y="9055"/>
                  </a:lnTo>
                  <a:lnTo>
                    <a:pt x="6266522" y="7200"/>
                  </a:lnTo>
                  <a:lnTo>
                    <a:pt x="6267450" y="6083"/>
                  </a:lnTo>
                  <a:lnTo>
                    <a:pt x="6267450" y="3454"/>
                  </a:lnTo>
                  <a:lnTo>
                    <a:pt x="6266522" y="2324"/>
                  </a:lnTo>
                  <a:lnTo>
                    <a:pt x="6262801" y="457"/>
                  </a:lnTo>
                  <a:lnTo>
                    <a:pt x="6260553" y="0"/>
                  </a:lnTo>
                  <a:close/>
                </a:path>
              </a:pathLst>
            </a:custGeom>
            <a:solidFill>
              <a:srgbClr val="4A6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95400" y="3562349"/>
              <a:ext cx="3769995" cy="1033144"/>
            </a:xfrm>
            <a:custGeom>
              <a:avLst/>
              <a:gdLst/>
              <a:ahLst/>
              <a:cxnLst/>
              <a:rect l="l" t="t" r="r" b="b"/>
              <a:pathLst>
                <a:path w="3769995" h="1033145">
                  <a:moveTo>
                    <a:pt x="3154337" y="0"/>
                  </a:moveTo>
                  <a:lnTo>
                    <a:pt x="615632" y="0"/>
                  </a:lnTo>
                  <a:lnTo>
                    <a:pt x="0" y="1032865"/>
                  </a:lnTo>
                  <a:lnTo>
                    <a:pt x="3769969" y="1032865"/>
                  </a:lnTo>
                  <a:lnTo>
                    <a:pt x="3154337" y="0"/>
                  </a:lnTo>
                  <a:close/>
                </a:path>
              </a:pathLst>
            </a:custGeom>
            <a:solidFill>
              <a:srgbClr val="3051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3981767"/>
              <a:ext cx="256540" cy="179705"/>
            </a:xfrm>
            <a:custGeom>
              <a:avLst/>
              <a:gdLst/>
              <a:ahLst/>
              <a:cxnLst/>
              <a:rect l="l" t="t" r="r" b="b"/>
              <a:pathLst>
                <a:path w="256539" h="179704">
                  <a:moveTo>
                    <a:pt x="108851" y="0"/>
                  </a:moveTo>
                  <a:lnTo>
                    <a:pt x="82118" y="5249"/>
                  </a:lnTo>
                  <a:lnTo>
                    <a:pt x="60096" y="19605"/>
                  </a:lnTo>
                  <a:lnTo>
                    <a:pt x="44865" y="40976"/>
                  </a:lnTo>
                  <a:lnTo>
                    <a:pt x="38506" y="67271"/>
                  </a:lnTo>
                  <a:lnTo>
                    <a:pt x="23033" y="75579"/>
                  </a:lnTo>
                  <a:lnTo>
                    <a:pt x="10847" y="88015"/>
                  </a:lnTo>
                  <a:lnTo>
                    <a:pt x="2864" y="103678"/>
                  </a:lnTo>
                  <a:lnTo>
                    <a:pt x="0" y="121666"/>
                  </a:lnTo>
                  <a:lnTo>
                    <a:pt x="4529" y="144092"/>
                  </a:lnTo>
                  <a:lnTo>
                    <a:pt x="16881" y="162412"/>
                  </a:lnTo>
                  <a:lnTo>
                    <a:pt x="35200" y="174767"/>
                  </a:lnTo>
                  <a:lnTo>
                    <a:pt x="57632" y="179298"/>
                  </a:lnTo>
                  <a:lnTo>
                    <a:pt x="204901" y="179298"/>
                  </a:lnTo>
                  <a:lnTo>
                    <a:pt x="224843" y="175272"/>
                  </a:lnTo>
                  <a:lnTo>
                    <a:pt x="237879" y="166484"/>
                  </a:lnTo>
                  <a:lnTo>
                    <a:pt x="57632" y="166484"/>
                  </a:lnTo>
                  <a:lnTo>
                    <a:pt x="40174" y="162965"/>
                  </a:lnTo>
                  <a:lnTo>
                    <a:pt x="25925" y="153366"/>
                  </a:lnTo>
                  <a:lnTo>
                    <a:pt x="16322" y="139121"/>
                  </a:lnTo>
                  <a:lnTo>
                    <a:pt x="12801" y="121666"/>
                  </a:lnTo>
                  <a:lnTo>
                    <a:pt x="14979" y="107970"/>
                  </a:lnTo>
                  <a:lnTo>
                    <a:pt x="42748" y="79362"/>
                  </a:lnTo>
                  <a:lnTo>
                    <a:pt x="47663" y="77635"/>
                  </a:lnTo>
                  <a:lnTo>
                    <a:pt x="51066" y="73075"/>
                  </a:lnTo>
                  <a:lnTo>
                    <a:pt x="51169" y="70434"/>
                  </a:lnTo>
                  <a:lnTo>
                    <a:pt x="51269" y="67830"/>
                  </a:lnTo>
                  <a:lnTo>
                    <a:pt x="56484" y="46322"/>
                  </a:lnTo>
                  <a:lnTo>
                    <a:pt x="68954" y="28844"/>
                  </a:lnTo>
                  <a:lnTo>
                    <a:pt x="86977" y="17106"/>
                  </a:lnTo>
                  <a:lnTo>
                    <a:pt x="108851" y="12814"/>
                  </a:lnTo>
                  <a:lnTo>
                    <a:pt x="148516" y="12814"/>
                  </a:lnTo>
                  <a:lnTo>
                    <a:pt x="141811" y="8170"/>
                  </a:lnTo>
                  <a:lnTo>
                    <a:pt x="126107" y="2128"/>
                  </a:lnTo>
                  <a:lnTo>
                    <a:pt x="108851" y="0"/>
                  </a:lnTo>
                  <a:close/>
                </a:path>
                <a:path w="256539" h="179704">
                  <a:moveTo>
                    <a:pt x="216919" y="38417"/>
                  </a:moveTo>
                  <a:lnTo>
                    <a:pt x="185699" y="38417"/>
                  </a:lnTo>
                  <a:lnTo>
                    <a:pt x="198370" y="40976"/>
                  </a:lnTo>
                  <a:lnTo>
                    <a:pt x="198223" y="40976"/>
                  </a:lnTo>
                  <a:lnTo>
                    <a:pt x="208337" y="47796"/>
                  </a:lnTo>
                  <a:lnTo>
                    <a:pt x="215199" y="57973"/>
                  </a:lnTo>
                  <a:lnTo>
                    <a:pt x="217716" y="70434"/>
                  </a:lnTo>
                  <a:lnTo>
                    <a:pt x="217716" y="73520"/>
                  </a:lnTo>
                  <a:lnTo>
                    <a:pt x="217271" y="76441"/>
                  </a:lnTo>
                  <a:lnTo>
                    <a:pt x="216477" y="79362"/>
                  </a:lnTo>
                  <a:lnTo>
                    <a:pt x="214871" y="85051"/>
                  </a:lnTo>
                  <a:lnTo>
                    <a:pt x="217512" y="91249"/>
                  </a:lnTo>
                  <a:lnTo>
                    <a:pt x="243319" y="128066"/>
                  </a:lnTo>
                  <a:lnTo>
                    <a:pt x="240300" y="143017"/>
                  </a:lnTo>
                  <a:lnTo>
                    <a:pt x="232068" y="155228"/>
                  </a:lnTo>
                  <a:lnTo>
                    <a:pt x="219857" y="163464"/>
                  </a:lnTo>
                  <a:lnTo>
                    <a:pt x="204901" y="166484"/>
                  </a:lnTo>
                  <a:lnTo>
                    <a:pt x="237879" y="166484"/>
                  </a:lnTo>
                  <a:lnTo>
                    <a:pt x="241128" y="164293"/>
                  </a:lnTo>
                  <a:lnTo>
                    <a:pt x="252107" y="148008"/>
                  </a:lnTo>
                  <a:lnTo>
                    <a:pt x="256133" y="128066"/>
                  </a:lnTo>
                  <a:lnTo>
                    <a:pt x="254147" y="113903"/>
                  </a:lnTo>
                  <a:lnTo>
                    <a:pt x="248559" y="101258"/>
                  </a:lnTo>
                  <a:lnTo>
                    <a:pt x="239926" y="90692"/>
                  </a:lnTo>
                  <a:lnTo>
                    <a:pt x="228803" y="82765"/>
                  </a:lnTo>
                  <a:lnTo>
                    <a:pt x="229920" y="78841"/>
                  </a:lnTo>
                  <a:lnTo>
                    <a:pt x="230268" y="76441"/>
                  </a:lnTo>
                  <a:lnTo>
                    <a:pt x="230393" y="75579"/>
                  </a:lnTo>
                  <a:lnTo>
                    <a:pt x="230517" y="70434"/>
                  </a:lnTo>
                  <a:lnTo>
                    <a:pt x="226997" y="52983"/>
                  </a:lnTo>
                  <a:lnTo>
                    <a:pt x="217395" y="38738"/>
                  </a:lnTo>
                  <a:lnTo>
                    <a:pt x="216919" y="38417"/>
                  </a:lnTo>
                  <a:close/>
                </a:path>
                <a:path w="256539" h="179704">
                  <a:moveTo>
                    <a:pt x="148516" y="12814"/>
                  </a:moveTo>
                  <a:lnTo>
                    <a:pt x="108851" y="12814"/>
                  </a:lnTo>
                  <a:lnTo>
                    <a:pt x="122974" y="14552"/>
                  </a:lnTo>
                  <a:lnTo>
                    <a:pt x="136121" y="19605"/>
                  </a:lnTo>
                  <a:lnTo>
                    <a:pt x="135987" y="19605"/>
                  </a:lnTo>
                  <a:lnTo>
                    <a:pt x="146970" y="27210"/>
                  </a:lnTo>
                  <a:lnTo>
                    <a:pt x="156006" y="37299"/>
                  </a:lnTo>
                  <a:lnTo>
                    <a:pt x="159600" y="42379"/>
                  </a:lnTo>
                  <a:lnTo>
                    <a:pt x="166319" y="44183"/>
                  </a:lnTo>
                  <a:lnTo>
                    <a:pt x="176098" y="39547"/>
                  </a:lnTo>
                  <a:lnTo>
                    <a:pt x="180733" y="38417"/>
                  </a:lnTo>
                  <a:lnTo>
                    <a:pt x="216919" y="38417"/>
                  </a:lnTo>
                  <a:lnTo>
                    <a:pt x="204333" y="29933"/>
                  </a:lnTo>
                  <a:lnTo>
                    <a:pt x="166484" y="29933"/>
                  </a:lnTo>
                  <a:lnTo>
                    <a:pt x="155443" y="17611"/>
                  </a:lnTo>
                  <a:lnTo>
                    <a:pt x="148516" y="12814"/>
                  </a:lnTo>
                  <a:close/>
                </a:path>
                <a:path w="256539" h="179704">
                  <a:moveTo>
                    <a:pt x="185699" y="25615"/>
                  </a:moveTo>
                  <a:lnTo>
                    <a:pt x="178816" y="25615"/>
                  </a:lnTo>
                  <a:lnTo>
                    <a:pt x="172219" y="27210"/>
                  </a:lnTo>
                  <a:lnTo>
                    <a:pt x="166484" y="29933"/>
                  </a:lnTo>
                  <a:lnTo>
                    <a:pt x="204333" y="29933"/>
                  </a:lnTo>
                  <a:lnTo>
                    <a:pt x="203149" y="29136"/>
                  </a:lnTo>
                  <a:lnTo>
                    <a:pt x="185699" y="25615"/>
                  </a:lnTo>
                  <a:close/>
                </a:path>
              </a:pathLst>
            </a:custGeom>
            <a:solidFill>
              <a:srgbClr val="F9E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05400" y="4605337"/>
              <a:ext cx="5638800" cy="9525"/>
            </a:xfrm>
            <a:custGeom>
              <a:avLst/>
              <a:gdLst/>
              <a:ahLst/>
              <a:cxnLst/>
              <a:rect l="l" t="t" r="r" b="b"/>
              <a:pathLst>
                <a:path w="5638800" h="9525">
                  <a:moveTo>
                    <a:pt x="5631903" y="0"/>
                  </a:moveTo>
                  <a:lnTo>
                    <a:pt x="6896" y="0"/>
                  </a:lnTo>
                  <a:lnTo>
                    <a:pt x="4648" y="457"/>
                  </a:lnTo>
                  <a:lnTo>
                    <a:pt x="927" y="2324"/>
                  </a:lnTo>
                  <a:lnTo>
                    <a:pt x="0" y="3454"/>
                  </a:lnTo>
                  <a:lnTo>
                    <a:pt x="0" y="4762"/>
                  </a:lnTo>
                  <a:lnTo>
                    <a:pt x="0" y="6083"/>
                  </a:lnTo>
                  <a:lnTo>
                    <a:pt x="927" y="7200"/>
                  </a:lnTo>
                  <a:lnTo>
                    <a:pt x="4648" y="9055"/>
                  </a:lnTo>
                  <a:lnTo>
                    <a:pt x="6896" y="9525"/>
                  </a:lnTo>
                  <a:lnTo>
                    <a:pt x="5631903" y="9525"/>
                  </a:lnTo>
                  <a:lnTo>
                    <a:pt x="5634151" y="9055"/>
                  </a:lnTo>
                  <a:lnTo>
                    <a:pt x="5637872" y="7200"/>
                  </a:lnTo>
                  <a:lnTo>
                    <a:pt x="5638800" y="6083"/>
                  </a:lnTo>
                  <a:lnTo>
                    <a:pt x="5638800" y="3454"/>
                  </a:lnTo>
                  <a:lnTo>
                    <a:pt x="5637872" y="2324"/>
                  </a:lnTo>
                  <a:lnTo>
                    <a:pt x="5634151" y="457"/>
                  </a:lnTo>
                  <a:lnTo>
                    <a:pt x="5631903" y="0"/>
                  </a:lnTo>
                  <a:close/>
                </a:path>
              </a:pathLst>
            </a:custGeom>
            <a:solidFill>
              <a:srgbClr val="4A6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6750" y="4638674"/>
              <a:ext cx="5026660" cy="1033144"/>
            </a:xfrm>
            <a:custGeom>
              <a:avLst/>
              <a:gdLst/>
              <a:ahLst/>
              <a:cxnLst/>
              <a:rect l="l" t="t" r="r" b="b"/>
              <a:pathLst>
                <a:path w="5026660" h="1033145">
                  <a:moveTo>
                    <a:pt x="4417237" y="0"/>
                  </a:moveTo>
                  <a:lnTo>
                    <a:pt x="609282" y="0"/>
                  </a:lnTo>
                  <a:lnTo>
                    <a:pt x="0" y="1032868"/>
                  </a:lnTo>
                  <a:lnTo>
                    <a:pt x="5026520" y="1032868"/>
                  </a:lnTo>
                  <a:lnTo>
                    <a:pt x="4417237" y="0"/>
                  </a:lnTo>
                  <a:close/>
                </a:path>
              </a:pathLst>
            </a:custGeom>
            <a:solidFill>
              <a:srgbClr val="3051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4014" y="5029199"/>
              <a:ext cx="224104" cy="24764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33400" y="1488946"/>
            <a:ext cx="9693275" cy="41979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361690">
              <a:lnSpc>
                <a:spcPct val="100000"/>
              </a:lnSpc>
              <a:spcBef>
                <a:spcPts val="135"/>
              </a:spcBef>
            </a:pPr>
            <a:r>
              <a:rPr sz="1650" spc="75" dirty="0">
                <a:solidFill>
                  <a:srgbClr val="F9EEE7"/>
                </a:solidFill>
                <a:latin typeface="Times New Roman"/>
                <a:cs typeface="Times New Roman"/>
              </a:rPr>
              <a:t>Multi-</a:t>
            </a:r>
            <a:r>
              <a:rPr sz="1650" spc="85" dirty="0">
                <a:solidFill>
                  <a:srgbClr val="F9EEE7"/>
                </a:solidFill>
                <a:latin typeface="Times New Roman"/>
                <a:cs typeface="Times New Roman"/>
              </a:rPr>
              <a:t>Modal</a:t>
            </a:r>
            <a:r>
              <a:rPr sz="1650" spc="2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650" spc="90" dirty="0">
                <a:solidFill>
                  <a:srgbClr val="F9EEE7"/>
                </a:solidFill>
                <a:latin typeface="Times New Roman"/>
                <a:cs typeface="Times New Roman"/>
              </a:rPr>
              <a:t>Fusion</a:t>
            </a:r>
            <a:endParaRPr sz="1650" dirty="0">
              <a:latin typeface="Times New Roman"/>
              <a:cs typeface="Times New Roman"/>
            </a:endParaRPr>
          </a:p>
          <a:p>
            <a:pPr marL="3361690">
              <a:lnSpc>
                <a:spcPct val="100000"/>
              </a:lnSpc>
              <a:spcBef>
                <a:spcPts val="1270"/>
              </a:spcBef>
            </a:pP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Combines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facial,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vocal,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and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text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analysis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for</a:t>
            </a:r>
            <a:r>
              <a:rPr sz="1400" spc="2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higher</a:t>
            </a:r>
            <a:r>
              <a:rPr sz="1400" spc="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accuracy.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3989704">
              <a:lnSpc>
                <a:spcPct val="100000"/>
              </a:lnSpc>
            </a:pPr>
            <a:r>
              <a:rPr sz="1650" spc="60" dirty="0">
                <a:solidFill>
                  <a:srgbClr val="F9EEE7"/>
                </a:solidFill>
                <a:latin typeface="Times New Roman"/>
                <a:cs typeface="Times New Roman"/>
              </a:rPr>
              <a:t>Real-</a:t>
            </a:r>
            <a:r>
              <a:rPr sz="1650" spc="95" dirty="0">
                <a:solidFill>
                  <a:srgbClr val="F9EEE7"/>
                </a:solidFill>
                <a:latin typeface="Times New Roman"/>
                <a:cs typeface="Times New Roman"/>
              </a:rPr>
              <a:t>Time</a:t>
            </a:r>
            <a:r>
              <a:rPr sz="1650" spc="-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650" spc="85" dirty="0">
                <a:solidFill>
                  <a:srgbClr val="F9EEE7"/>
                </a:solidFill>
                <a:latin typeface="Times New Roman"/>
                <a:cs typeface="Times New Roman"/>
              </a:rPr>
              <a:t>Processing</a:t>
            </a:r>
            <a:endParaRPr sz="1650" dirty="0">
              <a:latin typeface="Times New Roman"/>
              <a:cs typeface="Times New Roman"/>
            </a:endParaRPr>
          </a:p>
          <a:p>
            <a:pPr marL="3989704">
              <a:lnSpc>
                <a:spcPct val="100000"/>
              </a:lnSpc>
              <a:spcBef>
                <a:spcPts val="1270"/>
              </a:spcBef>
            </a:pP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Processes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emotions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in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40" dirty="0">
                <a:solidFill>
                  <a:srgbClr val="F9EEE7"/>
                </a:solidFill>
                <a:latin typeface="Times New Roman"/>
                <a:cs typeface="Times New Roman"/>
              </a:rPr>
              <a:t>under</a:t>
            </a:r>
            <a:r>
              <a:rPr sz="1400" spc="-2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60" dirty="0">
                <a:solidFill>
                  <a:srgbClr val="F9EEE7"/>
                </a:solidFill>
                <a:latin typeface="Times New Roman"/>
                <a:cs typeface="Times New Roman"/>
              </a:rPr>
              <a:t>500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milliseconds.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4618355">
              <a:lnSpc>
                <a:spcPct val="100000"/>
              </a:lnSpc>
            </a:pPr>
            <a:r>
              <a:rPr sz="1650" spc="95" dirty="0">
                <a:solidFill>
                  <a:srgbClr val="F9EEE7"/>
                </a:solidFill>
                <a:latin typeface="Times New Roman"/>
                <a:cs typeface="Times New Roman"/>
              </a:rPr>
              <a:t>Cloud</a:t>
            </a:r>
            <a:r>
              <a:rPr sz="1650" spc="-7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650" spc="90" dirty="0">
                <a:solidFill>
                  <a:srgbClr val="F9EEE7"/>
                </a:solidFill>
                <a:latin typeface="Times New Roman"/>
                <a:cs typeface="Times New Roman"/>
              </a:rPr>
              <a:t>Architecture</a:t>
            </a:r>
            <a:endParaRPr sz="1650" dirty="0">
              <a:latin typeface="Times New Roman"/>
              <a:cs typeface="Times New Roman"/>
            </a:endParaRPr>
          </a:p>
          <a:p>
            <a:pPr marL="4618355">
              <a:lnSpc>
                <a:spcPct val="100000"/>
              </a:lnSpc>
              <a:spcBef>
                <a:spcPts val="1195"/>
              </a:spcBef>
            </a:pP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Scales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across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devices</a:t>
            </a:r>
            <a:r>
              <a:rPr sz="1400" spc="-4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with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centralized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learning.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5246370">
              <a:lnSpc>
                <a:spcPct val="100000"/>
              </a:lnSpc>
            </a:pPr>
            <a:r>
              <a:rPr sz="1650" spc="75" dirty="0">
                <a:solidFill>
                  <a:srgbClr val="F9EEE7"/>
                </a:solidFill>
                <a:latin typeface="Times New Roman"/>
                <a:cs typeface="Times New Roman"/>
              </a:rPr>
              <a:t>Privacy-</a:t>
            </a:r>
            <a:r>
              <a:rPr sz="1650" spc="80" dirty="0">
                <a:solidFill>
                  <a:srgbClr val="F9EEE7"/>
                </a:solidFill>
                <a:latin typeface="Times New Roman"/>
                <a:cs typeface="Times New Roman"/>
              </a:rPr>
              <a:t>Preserving</a:t>
            </a:r>
            <a:endParaRPr sz="1650" dirty="0">
              <a:latin typeface="Times New Roman"/>
              <a:cs typeface="Times New Roman"/>
            </a:endParaRPr>
          </a:p>
          <a:p>
            <a:pPr marL="5245735">
              <a:lnSpc>
                <a:spcPct val="100000"/>
              </a:lnSpc>
              <a:spcBef>
                <a:spcPts val="1270"/>
              </a:spcBef>
            </a:pP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Anonymizes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personal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data</a:t>
            </a:r>
            <a:r>
              <a:rPr sz="1400" spc="-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with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65" dirty="0">
                <a:solidFill>
                  <a:srgbClr val="F9EEE7"/>
                </a:solidFill>
                <a:latin typeface="Times New Roman"/>
                <a:cs typeface="Times New Roman"/>
              </a:rPr>
              <a:t>on-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device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processing.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400" spc="40" dirty="0" smtClean="0">
                <a:solidFill>
                  <a:srgbClr val="F9EEE7"/>
                </a:solidFill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382000"/>
          </a:xfrm>
          <a:custGeom>
            <a:avLst/>
            <a:gdLst/>
            <a:ahLst/>
            <a:cxnLst/>
            <a:rect l="l" t="t" r="r" b="b"/>
            <a:pathLst>
              <a:path w="11430000" h="8382000">
                <a:moveTo>
                  <a:pt x="11430000" y="0"/>
                </a:moveTo>
                <a:lnTo>
                  <a:pt x="0" y="0"/>
                </a:lnTo>
                <a:lnTo>
                  <a:pt x="0" y="8382000"/>
                </a:lnTo>
                <a:lnTo>
                  <a:pt x="11430000" y="8382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13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95" dirty="0"/>
              <a:t>Experimental</a:t>
            </a:r>
            <a:r>
              <a:rPr spc="-30" dirty="0"/>
              <a:t> </a:t>
            </a:r>
            <a:r>
              <a:rPr spc="135" dirty="0"/>
              <a:t>Results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014595" y="1520416"/>
            <a:ext cx="9779000" cy="5326380"/>
            <a:chOff x="1014595" y="1520416"/>
            <a:chExt cx="9779000" cy="5326380"/>
          </a:xfrm>
        </p:grpSpPr>
        <p:sp>
          <p:nvSpPr>
            <p:cNvPr id="5" name="object 5"/>
            <p:cNvSpPr/>
            <p:nvPr/>
          </p:nvSpPr>
          <p:spPr>
            <a:xfrm>
              <a:off x="1094763" y="6771416"/>
              <a:ext cx="9698355" cy="0"/>
            </a:xfrm>
            <a:custGeom>
              <a:avLst/>
              <a:gdLst/>
              <a:ahLst/>
              <a:cxnLst/>
              <a:rect l="l" t="t" r="r" b="b"/>
              <a:pathLst>
                <a:path w="9698355">
                  <a:moveTo>
                    <a:pt x="0" y="0"/>
                  </a:moveTo>
                  <a:lnTo>
                    <a:pt x="9698223" y="0"/>
                  </a:lnTo>
                </a:path>
              </a:pathLst>
            </a:custGeom>
            <a:ln w="13361">
              <a:solidFill>
                <a:srgbClr val="F9E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94763" y="5021083"/>
              <a:ext cx="9698355" cy="0"/>
            </a:xfrm>
            <a:custGeom>
              <a:avLst/>
              <a:gdLst/>
              <a:ahLst/>
              <a:cxnLst/>
              <a:rect l="l" t="t" r="r" b="b"/>
              <a:pathLst>
                <a:path w="9698355">
                  <a:moveTo>
                    <a:pt x="0" y="0"/>
                  </a:moveTo>
                  <a:lnTo>
                    <a:pt x="9698223" y="0"/>
                  </a:lnTo>
                </a:path>
              </a:pathLst>
            </a:custGeom>
            <a:ln w="13361">
              <a:solidFill>
                <a:srgbClr val="F9E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94763" y="3284110"/>
              <a:ext cx="9698355" cy="0"/>
            </a:xfrm>
            <a:custGeom>
              <a:avLst/>
              <a:gdLst/>
              <a:ahLst/>
              <a:cxnLst/>
              <a:rect l="l" t="t" r="r" b="b"/>
              <a:pathLst>
                <a:path w="9698355">
                  <a:moveTo>
                    <a:pt x="0" y="0"/>
                  </a:moveTo>
                  <a:lnTo>
                    <a:pt x="9698223" y="0"/>
                  </a:lnTo>
                </a:path>
              </a:pathLst>
            </a:custGeom>
            <a:ln w="13361">
              <a:solidFill>
                <a:srgbClr val="F9E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94763" y="1533778"/>
              <a:ext cx="9698355" cy="0"/>
            </a:xfrm>
            <a:custGeom>
              <a:avLst/>
              <a:gdLst/>
              <a:ahLst/>
              <a:cxnLst/>
              <a:rect l="l" t="t" r="r" b="b"/>
              <a:pathLst>
                <a:path w="9698355">
                  <a:moveTo>
                    <a:pt x="0" y="0"/>
                  </a:moveTo>
                  <a:lnTo>
                    <a:pt x="9698223" y="0"/>
                  </a:lnTo>
                </a:path>
              </a:pathLst>
            </a:custGeom>
            <a:ln w="13361">
              <a:solidFill>
                <a:srgbClr val="F9E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55953" y="2669501"/>
              <a:ext cx="1076325" cy="4097020"/>
            </a:xfrm>
            <a:custGeom>
              <a:avLst/>
              <a:gdLst/>
              <a:ahLst/>
              <a:cxnLst/>
              <a:rect l="l" t="t" r="r" b="b"/>
              <a:pathLst>
                <a:path w="1076325" h="4097020">
                  <a:moveTo>
                    <a:pt x="1013675" y="0"/>
                  </a:moveTo>
                  <a:lnTo>
                    <a:pt x="66814" y="0"/>
                  </a:lnTo>
                  <a:lnTo>
                    <a:pt x="62420" y="0"/>
                  </a:lnTo>
                  <a:lnTo>
                    <a:pt x="58077" y="419"/>
                  </a:lnTo>
                  <a:lnTo>
                    <a:pt x="22669" y="16459"/>
                  </a:lnTo>
                  <a:lnTo>
                    <a:pt x="2133" y="49466"/>
                  </a:lnTo>
                  <a:lnTo>
                    <a:pt x="0" y="62420"/>
                  </a:lnTo>
                  <a:lnTo>
                    <a:pt x="0" y="4096575"/>
                  </a:lnTo>
                  <a:lnTo>
                    <a:pt x="1076096" y="4096575"/>
                  </a:lnTo>
                  <a:lnTo>
                    <a:pt x="1076096" y="62420"/>
                  </a:lnTo>
                  <a:lnTo>
                    <a:pt x="1062405" y="26035"/>
                  </a:lnTo>
                  <a:lnTo>
                    <a:pt x="1030808" y="3403"/>
                  </a:lnTo>
                  <a:lnTo>
                    <a:pt x="1018019" y="419"/>
                  </a:lnTo>
                  <a:lnTo>
                    <a:pt x="1013675" y="0"/>
                  </a:lnTo>
                  <a:close/>
                </a:path>
              </a:pathLst>
            </a:custGeom>
            <a:solidFill>
              <a:srgbClr val="D949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93237" y="2976816"/>
              <a:ext cx="1076325" cy="3789679"/>
            </a:xfrm>
            <a:custGeom>
              <a:avLst/>
              <a:gdLst/>
              <a:ahLst/>
              <a:cxnLst/>
              <a:rect l="l" t="t" r="r" b="b"/>
              <a:pathLst>
                <a:path w="1076325" h="3789679">
                  <a:moveTo>
                    <a:pt x="1013675" y="0"/>
                  </a:moveTo>
                  <a:lnTo>
                    <a:pt x="66802" y="0"/>
                  </a:lnTo>
                  <a:lnTo>
                    <a:pt x="62420" y="0"/>
                  </a:lnTo>
                  <a:lnTo>
                    <a:pt x="58077" y="419"/>
                  </a:lnTo>
                  <a:lnTo>
                    <a:pt x="22669" y="16459"/>
                  </a:lnTo>
                  <a:lnTo>
                    <a:pt x="2133" y="49466"/>
                  </a:lnTo>
                  <a:lnTo>
                    <a:pt x="0" y="62407"/>
                  </a:lnTo>
                  <a:lnTo>
                    <a:pt x="0" y="3789260"/>
                  </a:lnTo>
                  <a:lnTo>
                    <a:pt x="1076096" y="3789260"/>
                  </a:lnTo>
                  <a:lnTo>
                    <a:pt x="1076096" y="62407"/>
                  </a:lnTo>
                  <a:lnTo>
                    <a:pt x="1062405" y="26035"/>
                  </a:lnTo>
                  <a:lnTo>
                    <a:pt x="1030795" y="3390"/>
                  </a:lnTo>
                  <a:lnTo>
                    <a:pt x="1018019" y="419"/>
                  </a:lnTo>
                  <a:lnTo>
                    <a:pt x="1013675" y="0"/>
                  </a:lnTo>
                  <a:close/>
                </a:path>
              </a:pathLst>
            </a:custGeom>
            <a:solidFill>
              <a:srgbClr val="E560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30521" y="3190595"/>
              <a:ext cx="1076325" cy="3575685"/>
            </a:xfrm>
            <a:custGeom>
              <a:avLst/>
              <a:gdLst/>
              <a:ahLst/>
              <a:cxnLst/>
              <a:rect l="l" t="t" r="r" b="b"/>
              <a:pathLst>
                <a:path w="1076325" h="3575684">
                  <a:moveTo>
                    <a:pt x="1013675" y="0"/>
                  </a:moveTo>
                  <a:lnTo>
                    <a:pt x="66802" y="0"/>
                  </a:lnTo>
                  <a:lnTo>
                    <a:pt x="62420" y="0"/>
                  </a:lnTo>
                  <a:lnTo>
                    <a:pt x="58077" y="419"/>
                  </a:lnTo>
                  <a:lnTo>
                    <a:pt x="22669" y="16459"/>
                  </a:lnTo>
                  <a:lnTo>
                    <a:pt x="2133" y="49466"/>
                  </a:lnTo>
                  <a:lnTo>
                    <a:pt x="0" y="62420"/>
                  </a:lnTo>
                  <a:lnTo>
                    <a:pt x="0" y="3575481"/>
                  </a:lnTo>
                  <a:lnTo>
                    <a:pt x="1076096" y="3575481"/>
                  </a:lnTo>
                  <a:lnTo>
                    <a:pt x="1076096" y="62420"/>
                  </a:lnTo>
                  <a:lnTo>
                    <a:pt x="1062405" y="26035"/>
                  </a:lnTo>
                  <a:lnTo>
                    <a:pt x="1030795" y="3403"/>
                  </a:lnTo>
                  <a:lnTo>
                    <a:pt x="1018019" y="419"/>
                  </a:lnTo>
                  <a:lnTo>
                    <a:pt x="1013675" y="0"/>
                  </a:lnTo>
                  <a:close/>
                </a:path>
              </a:pathLst>
            </a:custGeom>
            <a:solidFill>
              <a:srgbClr val="EA7D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7805" y="3364293"/>
              <a:ext cx="1076325" cy="3402329"/>
            </a:xfrm>
            <a:custGeom>
              <a:avLst/>
              <a:gdLst/>
              <a:ahLst/>
              <a:cxnLst/>
              <a:rect l="l" t="t" r="r" b="b"/>
              <a:pathLst>
                <a:path w="1076325" h="3402329">
                  <a:moveTo>
                    <a:pt x="1013675" y="0"/>
                  </a:moveTo>
                  <a:lnTo>
                    <a:pt x="66802" y="0"/>
                  </a:lnTo>
                  <a:lnTo>
                    <a:pt x="62420" y="0"/>
                  </a:lnTo>
                  <a:lnTo>
                    <a:pt x="58077" y="419"/>
                  </a:lnTo>
                  <a:lnTo>
                    <a:pt x="22669" y="16459"/>
                  </a:lnTo>
                  <a:lnTo>
                    <a:pt x="2133" y="49466"/>
                  </a:lnTo>
                  <a:lnTo>
                    <a:pt x="0" y="62420"/>
                  </a:lnTo>
                  <a:lnTo>
                    <a:pt x="0" y="3401783"/>
                  </a:lnTo>
                  <a:lnTo>
                    <a:pt x="1076096" y="3401783"/>
                  </a:lnTo>
                  <a:lnTo>
                    <a:pt x="1076096" y="62420"/>
                  </a:lnTo>
                  <a:lnTo>
                    <a:pt x="1062393" y="26035"/>
                  </a:lnTo>
                  <a:lnTo>
                    <a:pt x="1030808" y="3403"/>
                  </a:lnTo>
                  <a:lnTo>
                    <a:pt x="1018019" y="419"/>
                  </a:lnTo>
                  <a:lnTo>
                    <a:pt x="1013675" y="0"/>
                  </a:lnTo>
                  <a:close/>
                </a:path>
              </a:pathLst>
            </a:custGeom>
            <a:solidFill>
              <a:srgbClr val="EF98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05090" y="3230676"/>
              <a:ext cx="1076325" cy="3535679"/>
            </a:xfrm>
            <a:custGeom>
              <a:avLst/>
              <a:gdLst/>
              <a:ahLst/>
              <a:cxnLst/>
              <a:rect l="l" t="t" r="r" b="b"/>
              <a:pathLst>
                <a:path w="1076325" h="3535679">
                  <a:moveTo>
                    <a:pt x="1013675" y="0"/>
                  </a:moveTo>
                  <a:lnTo>
                    <a:pt x="66802" y="0"/>
                  </a:lnTo>
                  <a:lnTo>
                    <a:pt x="62420" y="0"/>
                  </a:lnTo>
                  <a:lnTo>
                    <a:pt x="58077" y="431"/>
                  </a:lnTo>
                  <a:lnTo>
                    <a:pt x="22669" y="16459"/>
                  </a:lnTo>
                  <a:lnTo>
                    <a:pt x="2133" y="49466"/>
                  </a:lnTo>
                  <a:lnTo>
                    <a:pt x="0" y="62420"/>
                  </a:lnTo>
                  <a:lnTo>
                    <a:pt x="0" y="3535400"/>
                  </a:lnTo>
                  <a:lnTo>
                    <a:pt x="1076096" y="3535400"/>
                  </a:lnTo>
                  <a:lnTo>
                    <a:pt x="1076096" y="62420"/>
                  </a:lnTo>
                  <a:lnTo>
                    <a:pt x="1062405" y="26035"/>
                  </a:lnTo>
                  <a:lnTo>
                    <a:pt x="1030795" y="3403"/>
                  </a:lnTo>
                  <a:lnTo>
                    <a:pt x="1018019" y="431"/>
                  </a:lnTo>
                  <a:lnTo>
                    <a:pt x="1013675" y="0"/>
                  </a:lnTo>
                  <a:close/>
                </a:path>
              </a:pathLst>
            </a:custGeom>
            <a:solidFill>
              <a:srgbClr val="F3B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42374" y="2883280"/>
              <a:ext cx="1076325" cy="3883025"/>
            </a:xfrm>
            <a:custGeom>
              <a:avLst/>
              <a:gdLst/>
              <a:ahLst/>
              <a:cxnLst/>
              <a:rect l="l" t="t" r="r" b="b"/>
              <a:pathLst>
                <a:path w="1076325" h="3883025">
                  <a:moveTo>
                    <a:pt x="1013675" y="0"/>
                  </a:moveTo>
                  <a:lnTo>
                    <a:pt x="66802" y="0"/>
                  </a:lnTo>
                  <a:lnTo>
                    <a:pt x="62420" y="0"/>
                  </a:lnTo>
                  <a:lnTo>
                    <a:pt x="58077" y="431"/>
                  </a:lnTo>
                  <a:lnTo>
                    <a:pt x="22669" y="16471"/>
                  </a:lnTo>
                  <a:lnTo>
                    <a:pt x="2133" y="49466"/>
                  </a:lnTo>
                  <a:lnTo>
                    <a:pt x="0" y="62420"/>
                  </a:lnTo>
                  <a:lnTo>
                    <a:pt x="0" y="3882796"/>
                  </a:lnTo>
                  <a:lnTo>
                    <a:pt x="1076096" y="3882796"/>
                  </a:lnTo>
                  <a:lnTo>
                    <a:pt x="1076096" y="62420"/>
                  </a:lnTo>
                  <a:lnTo>
                    <a:pt x="1062393" y="26035"/>
                  </a:lnTo>
                  <a:lnTo>
                    <a:pt x="1030795" y="3403"/>
                  </a:lnTo>
                  <a:lnTo>
                    <a:pt x="1018019" y="431"/>
                  </a:lnTo>
                  <a:lnTo>
                    <a:pt x="1013675" y="0"/>
                  </a:lnTo>
                  <a:close/>
                </a:path>
              </a:pathLst>
            </a:custGeom>
            <a:solidFill>
              <a:srgbClr val="F8D1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4595" y="1533778"/>
              <a:ext cx="80645" cy="5238115"/>
            </a:xfrm>
            <a:custGeom>
              <a:avLst/>
              <a:gdLst/>
              <a:ahLst/>
              <a:cxnLst/>
              <a:rect l="l" t="t" r="r" b="b"/>
              <a:pathLst>
                <a:path w="80644" h="5238115">
                  <a:moveTo>
                    <a:pt x="80168" y="5237638"/>
                  </a:moveTo>
                  <a:lnTo>
                    <a:pt x="0" y="5237638"/>
                  </a:lnTo>
                </a:path>
                <a:path w="80644" h="5238115">
                  <a:moveTo>
                    <a:pt x="80168" y="3487305"/>
                  </a:moveTo>
                  <a:lnTo>
                    <a:pt x="0" y="3487305"/>
                  </a:lnTo>
                </a:path>
                <a:path w="80644" h="5238115">
                  <a:moveTo>
                    <a:pt x="80168" y="1750332"/>
                  </a:moveTo>
                  <a:lnTo>
                    <a:pt x="0" y="1750332"/>
                  </a:lnTo>
                </a:path>
                <a:path w="80644" h="5238115">
                  <a:moveTo>
                    <a:pt x="80168" y="0"/>
                  </a:moveTo>
                  <a:lnTo>
                    <a:pt x="0" y="0"/>
                  </a:lnTo>
                </a:path>
              </a:pathLst>
            </a:custGeom>
            <a:ln w="26722">
              <a:solidFill>
                <a:srgbClr val="F9E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94763" y="1540471"/>
              <a:ext cx="0" cy="5232400"/>
            </a:xfrm>
            <a:custGeom>
              <a:avLst/>
              <a:gdLst/>
              <a:ahLst/>
              <a:cxnLst/>
              <a:rect l="l" t="t" r="r" b="b"/>
              <a:pathLst>
                <a:path h="5232400">
                  <a:moveTo>
                    <a:pt x="0" y="5232278"/>
                  </a:moveTo>
                  <a:lnTo>
                    <a:pt x="0" y="0"/>
                  </a:lnTo>
                </a:path>
              </a:pathLst>
            </a:custGeom>
            <a:ln w="26723">
              <a:solidFill>
                <a:srgbClr val="F9E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93996" y="6766082"/>
              <a:ext cx="7686675" cy="80645"/>
            </a:xfrm>
            <a:custGeom>
              <a:avLst/>
              <a:gdLst/>
              <a:ahLst/>
              <a:cxnLst/>
              <a:rect l="l" t="t" r="r" b="b"/>
              <a:pathLst>
                <a:path w="7686675" h="80645">
                  <a:moveTo>
                    <a:pt x="0" y="0"/>
                  </a:moveTo>
                  <a:lnTo>
                    <a:pt x="0" y="80161"/>
                  </a:lnTo>
                </a:path>
                <a:path w="7686675" h="80645">
                  <a:moveTo>
                    <a:pt x="1537286" y="0"/>
                  </a:moveTo>
                  <a:lnTo>
                    <a:pt x="1537286" y="80161"/>
                  </a:lnTo>
                </a:path>
                <a:path w="7686675" h="80645">
                  <a:moveTo>
                    <a:pt x="3074561" y="0"/>
                  </a:moveTo>
                  <a:lnTo>
                    <a:pt x="3074561" y="80161"/>
                  </a:lnTo>
                </a:path>
                <a:path w="7686675" h="80645">
                  <a:moveTo>
                    <a:pt x="4611835" y="0"/>
                  </a:moveTo>
                  <a:lnTo>
                    <a:pt x="4611835" y="80161"/>
                  </a:lnTo>
                </a:path>
                <a:path w="7686675" h="80645">
                  <a:moveTo>
                    <a:pt x="6149109" y="0"/>
                  </a:moveTo>
                  <a:lnTo>
                    <a:pt x="6149109" y="80161"/>
                  </a:lnTo>
                </a:path>
                <a:path w="7686675" h="80645">
                  <a:moveTo>
                    <a:pt x="7686383" y="0"/>
                  </a:moveTo>
                  <a:lnTo>
                    <a:pt x="7686383" y="80161"/>
                  </a:lnTo>
                </a:path>
              </a:pathLst>
            </a:custGeom>
            <a:ln w="26722">
              <a:solidFill>
                <a:srgbClr val="F9E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01446" y="6766082"/>
              <a:ext cx="9685020" cy="0"/>
            </a:xfrm>
            <a:custGeom>
              <a:avLst/>
              <a:gdLst/>
              <a:ahLst/>
              <a:cxnLst/>
              <a:rect l="l" t="t" r="r" b="b"/>
              <a:pathLst>
                <a:path w="9685020">
                  <a:moveTo>
                    <a:pt x="0" y="0"/>
                  </a:moveTo>
                  <a:lnTo>
                    <a:pt x="9684847" y="0"/>
                  </a:lnTo>
                </a:path>
              </a:pathLst>
            </a:custGeom>
            <a:ln w="26722">
              <a:solidFill>
                <a:srgbClr val="F9E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2745" y="4883057"/>
            <a:ext cx="24130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95" dirty="0">
                <a:solidFill>
                  <a:srgbClr val="F9EEE7"/>
                </a:solidFill>
                <a:latin typeface="Times New Roman"/>
                <a:cs typeface="Times New Roman"/>
              </a:rPr>
              <a:t>40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3369" y="3146103"/>
            <a:ext cx="250825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130" dirty="0">
                <a:solidFill>
                  <a:srgbClr val="F9EEE7"/>
                </a:solidFill>
                <a:latin typeface="Times New Roman"/>
                <a:cs typeface="Times New Roman"/>
              </a:rPr>
              <a:t>80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1308" y="1395903"/>
            <a:ext cx="313055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25" dirty="0">
                <a:solidFill>
                  <a:srgbClr val="F9EEE7"/>
                </a:solidFill>
                <a:latin typeface="Times New Roman"/>
                <a:cs typeface="Times New Roman"/>
              </a:rPr>
              <a:t>120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879" y="6633409"/>
            <a:ext cx="9611995" cy="11982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5265">
              <a:lnSpc>
                <a:spcPts val="1660"/>
              </a:lnSpc>
              <a:spcBef>
                <a:spcPts val="120"/>
              </a:spcBef>
            </a:pPr>
            <a:r>
              <a:rPr sz="1450" spc="170" dirty="0">
                <a:solidFill>
                  <a:srgbClr val="F9EEE7"/>
                </a:solidFill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  <a:p>
            <a:pPr marL="1026160">
              <a:lnSpc>
                <a:spcPts val="1660"/>
              </a:lnSpc>
              <a:tabLst>
                <a:tab pos="2663825" algn="l"/>
                <a:tab pos="4288155" algn="l"/>
                <a:tab pos="5900420" algn="l"/>
                <a:tab pos="7307580" algn="l"/>
                <a:tab pos="8799830" algn="l"/>
              </a:tabLst>
            </a:pPr>
            <a:r>
              <a:rPr sz="1450" spc="85" dirty="0">
                <a:solidFill>
                  <a:srgbClr val="F9EEE7"/>
                </a:solidFill>
                <a:latin typeface="Times New Roman"/>
                <a:cs typeface="Times New Roman"/>
              </a:rPr>
              <a:t>Happiness</a:t>
            </a:r>
            <a:r>
              <a:rPr sz="1450" dirty="0">
                <a:solidFill>
                  <a:srgbClr val="F9EEE7"/>
                </a:solidFill>
                <a:latin typeface="Times New Roman"/>
                <a:cs typeface="Times New Roman"/>
              </a:rPr>
              <a:t>	</a:t>
            </a:r>
            <a:r>
              <a:rPr sz="1450" spc="80" dirty="0">
                <a:solidFill>
                  <a:srgbClr val="F9EEE7"/>
                </a:solidFill>
                <a:latin typeface="Times New Roman"/>
                <a:cs typeface="Times New Roman"/>
              </a:rPr>
              <a:t>Sadness</a:t>
            </a:r>
            <a:r>
              <a:rPr sz="1450" dirty="0">
                <a:solidFill>
                  <a:srgbClr val="F9EEE7"/>
                </a:solidFill>
                <a:latin typeface="Times New Roman"/>
                <a:cs typeface="Times New Roman"/>
              </a:rPr>
              <a:t>	</a:t>
            </a:r>
            <a:r>
              <a:rPr sz="1450" spc="55" dirty="0">
                <a:solidFill>
                  <a:srgbClr val="F9EEE7"/>
                </a:solidFill>
                <a:latin typeface="Times New Roman"/>
                <a:cs typeface="Times New Roman"/>
              </a:rPr>
              <a:t>Anger</a:t>
            </a:r>
            <a:r>
              <a:rPr sz="1450" dirty="0">
                <a:solidFill>
                  <a:srgbClr val="F9EEE7"/>
                </a:solidFill>
                <a:latin typeface="Times New Roman"/>
                <a:cs typeface="Times New Roman"/>
              </a:rPr>
              <a:t>	</a:t>
            </a:r>
            <a:r>
              <a:rPr sz="1450" spc="35" dirty="0">
                <a:solidFill>
                  <a:srgbClr val="F9EEE7"/>
                </a:solidFill>
                <a:latin typeface="Times New Roman"/>
                <a:cs typeface="Times New Roman"/>
              </a:rPr>
              <a:t>Fear</a:t>
            </a:r>
            <a:r>
              <a:rPr sz="1450" dirty="0">
                <a:solidFill>
                  <a:srgbClr val="F9EEE7"/>
                </a:solidFill>
                <a:latin typeface="Times New Roman"/>
                <a:cs typeface="Times New Roman"/>
              </a:rPr>
              <a:t>	</a:t>
            </a:r>
            <a:r>
              <a:rPr sz="1450" spc="45" dirty="0">
                <a:solidFill>
                  <a:srgbClr val="F9EEE7"/>
                </a:solidFill>
                <a:latin typeface="Times New Roman"/>
                <a:cs typeface="Times New Roman"/>
              </a:rPr>
              <a:t>Disgust</a:t>
            </a:r>
            <a:r>
              <a:rPr sz="1450" dirty="0">
                <a:solidFill>
                  <a:srgbClr val="F9EEE7"/>
                </a:solidFill>
                <a:latin typeface="Times New Roman"/>
                <a:cs typeface="Times New Roman"/>
              </a:rPr>
              <a:t>	</a:t>
            </a:r>
            <a:r>
              <a:rPr sz="1450" spc="75" dirty="0">
                <a:solidFill>
                  <a:srgbClr val="F9EEE7"/>
                </a:solidFill>
                <a:latin typeface="Times New Roman"/>
                <a:cs typeface="Times New Roman"/>
              </a:rPr>
              <a:t>Surprise</a:t>
            </a:r>
            <a:endParaRPr sz="1450">
              <a:latin typeface="Times New Roman"/>
              <a:cs typeface="Times New Roman"/>
            </a:endParaRPr>
          </a:p>
          <a:p>
            <a:pPr marL="12700" marR="5080" indent="-635">
              <a:lnSpc>
                <a:spcPct val="138400"/>
              </a:lnSpc>
              <a:spcBef>
                <a:spcPts val="1235"/>
              </a:spcBef>
            </a:pPr>
            <a:r>
              <a:rPr sz="1400" spc="114" dirty="0">
                <a:solidFill>
                  <a:srgbClr val="F9EEE7"/>
                </a:solidFill>
                <a:latin typeface="Times New Roman"/>
                <a:cs typeface="Times New Roman"/>
              </a:rPr>
              <a:t>Our</a:t>
            </a:r>
            <a:r>
              <a:rPr sz="1400" spc="-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system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achieved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85%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overall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accuracy</a:t>
            </a:r>
            <a:r>
              <a:rPr sz="1400" spc="-2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across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all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emotions.</a:t>
            </a:r>
            <a:r>
              <a:rPr sz="1400" spc="-3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F9EEE7"/>
                </a:solidFill>
                <a:latin typeface="Times New Roman"/>
                <a:cs typeface="Times New Roman"/>
              </a:rPr>
              <a:t>Testing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included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25" dirty="0">
                <a:solidFill>
                  <a:srgbClr val="F9EEE7"/>
                </a:solidFill>
                <a:latin typeface="Times New Roman"/>
                <a:cs typeface="Times New Roman"/>
              </a:rPr>
              <a:t>5,000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diverse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subjects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4" dirty="0">
                <a:solidFill>
                  <a:srgbClr val="F9EEE7"/>
                </a:solidFill>
                <a:latin typeface="Times New Roman"/>
                <a:cs typeface="Times New Roman"/>
              </a:rPr>
              <a:t>from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multiple ethnicities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and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age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groups.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096250"/>
          </a:xfrm>
          <a:custGeom>
            <a:avLst/>
            <a:gdLst/>
            <a:ahLst/>
            <a:cxnLst/>
            <a:rect l="l" t="t" r="r" b="b"/>
            <a:pathLst>
              <a:path w="11430000" h="8096250">
                <a:moveTo>
                  <a:pt x="11430000" y="0"/>
                </a:moveTo>
                <a:lnTo>
                  <a:pt x="0" y="0"/>
                </a:lnTo>
                <a:lnTo>
                  <a:pt x="0" y="8096250"/>
                </a:lnTo>
                <a:lnTo>
                  <a:pt x="11430000" y="80962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13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80959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298315">
              <a:lnSpc>
                <a:spcPct val="100000"/>
              </a:lnSpc>
              <a:spcBef>
                <a:spcPts val="125"/>
              </a:spcBef>
            </a:pPr>
            <a:r>
              <a:rPr spc="105" dirty="0"/>
              <a:t>Ethical</a:t>
            </a:r>
            <a:r>
              <a:rPr spc="-10" dirty="0"/>
              <a:t> </a:t>
            </a:r>
            <a:r>
              <a:rPr spc="185" dirty="0"/>
              <a:t>Considerations</a:t>
            </a:r>
          </a:p>
        </p:txBody>
      </p:sp>
      <p:sp>
        <p:nvSpPr>
          <p:cNvPr id="5" name="object 5"/>
          <p:cNvSpPr/>
          <p:nvPr/>
        </p:nvSpPr>
        <p:spPr>
          <a:xfrm>
            <a:off x="4924425" y="1314449"/>
            <a:ext cx="5867400" cy="1428750"/>
          </a:xfrm>
          <a:custGeom>
            <a:avLst/>
            <a:gdLst/>
            <a:ahLst/>
            <a:cxnLst/>
            <a:rect l="l" t="t" r="r" b="b"/>
            <a:pathLst>
              <a:path w="5867400" h="1428750">
                <a:moveTo>
                  <a:pt x="5847651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1405978"/>
                </a:lnTo>
                <a:lnTo>
                  <a:pt x="0" y="1409001"/>
                </a:lnTo>
                <a:lnTo>
                  <a:pt x="19748" y="1428750"/>
                </a:lnTo>
                <a:lnTo>
                  <a:pt x="5847651" y="1428750"/>
                </a:lnTo>
                <a:lnTo>
                  <a:pt x="5867400" y="1409001"/>
                </a:lnTo>
                <a:lnTo>
                  <a:pt x="5867400" y="19748"/>
                </a:lnTo>
                <a:lnTo>
                  <a:pt x="5850547" y="571"/>
                </a:lnTo>
                <a:lnTo>
                  <a:pt x="5847651" y="0"/>
                </a:lnTo>
                <a:close/>
              </a:path>
            </a:pathLst>
          </a:custGeom>
          <a:solidFill>
            <a:srgbClr val="3051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93296" y="1458912"/>
            <a:ext cx="5133975" cy="1057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60" dirty="0">
                <a:solidFill>
                  <a:srgbClr val="F9EEE7"/>
                </a:solidFill>
                <a:latin typeface="Times New Roman"/>
                <a:cs typeface="Times New Roman"/>
              </a:rPr>
              <a:t>Privacy</a:t>
            </a:r>
            <a:r>
              <a:rPr sz="1650" spc="-5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650" spc="114" dirty="0">
                <a:solidFill>
                  <a:srgbClr val="F9EEE7"/>
                </a:solidFill>
                <a:latin typeface="Times New Roman"/>
                <a:cs typeface="Times New Roman"/>
              </a:rPr>
              <a:t>Concerns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ts val="3150"/>
              </a:lnSpc>
            </a:pP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Emotion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data</a:t>
            </a:r>
            <a:r>
              <a:rPr sz="1400" spc="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is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deeply</a:t>
            </a:r>
            <a:r>
              <a:rPr sz="1400" spc="-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personal</a:t>
            </a:r>
            <a:r>
              <a:rPr sz="1400" spc="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and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requires</a:t>
            </a:r>
            <a:r>
              <a:rPr sz="1400" spc="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strict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protection.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Users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must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provide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informed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4" dirty="0">
                <a:solidFill>
                  <a:srgbClr val="F9EEE7"/>
                </a:solidFill>
                <a:latin typeface="Times New Roman"/>
                <a:cs typeface="Times New Roman"/>
              </a:rPr>
              <a:t>consent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before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analysis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begins.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24425" y="2924174"/>
            <a:ext cx="5867400" cy="1438275"/>
          </a:xfrm>
          <a:custGeom>
            <a:avLst/>
            <a:gdLst/>
            <a:ahLst/>
            <a:cxnLst/>
            <a:rect l="l" t="t" r="r" b="b"/>
            <a:pathLst>
              <a:path w="5867400" h="1438275">
                <a:moveTo>
                  <a:pt x="5847651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1415503"/>
                </a:lnTo>
                <a:lnTo>
                  <a:pt x="0" y="1418526"/>
                </a:lnTo>
                <a:lnTo>
                  <a:pt x="19748" y="1438275"/>
                </a:lnTo>
                <a:lnTo>
                  <a:pt x="5847651" y="1438275"/>
                </a:lnTo>
                <a:lnTo>
                  <a:pt x="5867400" y="1418526"/>
                </a:lnTo>
                <a:lnTo>
                  <a:pt x="5867400" y="19748"/>
                </a:lnTo>
                <a:lnTo>
                  <a:pt x="5850547" y="571"/>
                </a:lnTo>
                <a:lnTo>
                  <a:pt x="5847651" y="0"/>
                </a:lnTo>
                <a:close/>
              </a:path>
            </a:pathLst>
          </a:custGeom>
          <a:solidFill>
            <a:srgbClr val="3051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93296" y="3078162"/>
            <a:ext cx="5469255" cy="10477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F9EEE7"/>
                </a:solidFill>
                <a:latin typeface="Times New Roman"/>
                <a:cs typeface="Times New Roman"/>
              </a:rPr>
              <a:t>Bias</a:t>
            </a:r>
            <a:r>
              <a:rPr sz="1650" spc="6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650" spc="110" dirty="0">
                <a:solidFill>
                  <a:srgbClr val="F9EEE7"/>
                </a:solidFill>
                <a:latin typeface="Times New Roman"/>
                <a:cs typeface="Times New Roman"/>
              </a:rPr>
              <a:t>Problems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ts val="3150"/>
              </a:lnSpc>
            </a:pP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Systems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may</a:t>
            </a:r>
            <a:r>
              <a:rPr sz="1400" spc="-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misinterpret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emotions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across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different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cultures.</a:t>
            </a:r>
            <a:r>
              <a:rPr sz="1400" spc="5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Facial</a:t>
            </a:r>
            <a:r>
              <a:rPr sz="1400" spc="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expressions</a:t>
            </a:r>
            <a:r>
              <a:rPr sz="1400" spc="-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vary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9EEE7"/>
                </a:solidFill>
                <a:latin typeface="Times New Roman"/>
                <a:cs typeface="Times New Roman"/>
              </a:rPr>
              <a:t>significantly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25" dirty="0">
                <a:solidFill>
                  <a:srgbClr val="F9EEE7"/>
                </a:solidFill>
                <a:latin typeface="Times New Roman"/>
                <a:cs typeface="Times New Roman"/>
              </a:rPr>
              <a:t>between</a:t>
            </a:r>
            <a:r>
              <a:rPr sz="1400" spc="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demographic</a:t>
            </a:r>
            <a:r>
              <a:rPr sz="1400" spc="4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groups.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24425" y="4543424"/>
            <a:ext cx="5867400" cy="1438275"/>
          </a:xfrm>
          <a:custGeom>
            <a:avLst/>
            <a:gdLst/>
            <a:ahLst/>
            <a:cxnLst/>
            <a:rect l="l" t="t" r="r" b="b"/>
            <a:pathLst>
              <a:path w="5867400" h="1438275">
                <a:moveTo>
                  <a:pt x="5847651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1415503"/>
                </a:lnTo>
                <a:lnTo>
                  <a:pt x="0" y="1418526"/>
                </a:lnTo>
                <a:lnTo>
                  <a:pt x="19748" y="1438275"/>
                </a:lnTo>
                <a:lnTo>
                  <a:pt x="5847651" y="1438275"/>
                </a:lnTo>
                <a:lnTo>
                  <a:pt x="5867400" y="1418526"/>
                </a:lnTo>
                <a:lnTo>
                  <a:pt x="5867400" y="19748"/>
                </a:lnTo>
                <a:lnTo>
                  <a:pt x="5850547" y="571"/>
                </a:lnTo>
                <a:lnTo>
                  <a:pt x="5847651" y="0"/>
                </a:lnTo>
                <a:close/>
              </a:path>
            </a:pathLst>
          </a:custGeom>
          <a:solidFill>
            <a:srgbClr val="3051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93296" y="4687887"/>
            <a:ext cx="5237480" cy="1057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00" dirty="0">
                <a:solidFill>
                  <a:srgbClr val="F9EEE7"/>
                </a:solidFill>
                <a:latin typeface="Times New Roman"/>
                <a:cs typeface="Times New Roman"/>
              </a:rPr>
              <a:t>Manipulation</a:t>
            </a:r>
            <a:r>
              <a:rPr sz="1650" spc="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9EEE7"/>
                </a:solidFill>
                <a:latin typeface="Times New Roman"/>
                <a:cs typeface="Times New Roman"/>
              </a:rPr>
              <a:t>Risks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ts val="3150"/>
              </a:lnSpc>
            </a:pP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Emotion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data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could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5" dirty="0">
                <a:solidFill>
                  <a:srgbClr val="F9EEE7"/>
                </a:solidFill>
                <a:latin typeface="Times New Roman"/>
                <a:cs typeface="Times New Roman"/>
              </a:rPr>
              <a:t>be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misused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for</a:t>
            </a:r>
            <a:r>
              <a:rPr sz="1400" spc="-2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targeted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marketing.</a:t>
            </a:r>
            <a:r>
              <a:rPr sz="1400" spc="5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Potential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exists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for</a:t>
            </a:r>
            <a:r>
              <a:rPr sz="1400" spc="-3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emotional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manipulation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in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political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contexts.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24425" y="6162674"/>
            <a:ext cx="5867400" cy="1428750"/>
          </a:xfrm>
          <a:custGeom>
            <a:avLst/>
            <a:gdLst/>
            <a:ahLst/>
            <a:cxnLst/>
            <a:rect l="l" t="t" r="r" b="b"/>
            <a:pathLst>
              <a:path w="5867400" h="1428750">
                <a:moveTo>
                  <a:pt x="5847651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1405980"/>
                </a:lnTo>
                <a:lnTo>
                  <a:pt x="0" y="1408996"/>
                </a:lnTo>
                <a:lnTo>
                  <a:pt x="19748" y="1428751"/>
                </a:lnTo>
                <a:lnTo>
                  <a:pt x="5847651" y="1428751"/>
                </a:lnTo>
                <a:lnTo>
                  <a:pt x="5867400" y="1408996"/>
                </a:lnTo>
                <a:lnTo>
                  <a:pt x="5867400" y="19748"/>
                </a:lnTo>
                <a:lnTo>
                  <a:pt x="5850547" y="571"/>
                </a:lnTo>
                <a:lnTo>
                  <a:pt x="5847651" y="0"/>
                </a:lnTo>
                <a:close/>
              </a:path>
            </a:pathLst>
          </a:custGeom>
          <a:solidFill>
            <a:srgbClr val="3051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93296" y="6307137"/>
            <a:ext cx="5132070" cy="10477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35" dirty="0">
                <a:solidFill>
                  <a:srgbClr val="F9EEE7"/>
                </a:solidFill>
                <a:latin typeface="Times New Roman"/>
                <a:cs typeface="Times New Roman"/>
              </a:rPr>
              <a:t>Our</a:t>
            </a:r>
            <a:r>
              <a:rPr sz="1650" spc="-114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650" spc="110" dirty="0">
                <a:solidFill>
                  <a:srgbClr val="F9EEE7"/>
                </a:solidFill>
                <a:latin typeface="Times New Roman"/>
                <a:cs typeface="Times New Roman"/>
              </a:rPr>
              <a:t>Approach</a:t>
            </a: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ts val="3150"/>
              </a:lnSpc>
            </a:pP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Transparent</a:t>
            </a:r>
            <a:r>
              <a:rPr sz="1400" spc="-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5" dirty="0">
                <a:solidFill>
                  <a:srgbClr val="F9EEE7"/>
                </a:solidFill>
                <a:latin typeface="Times New Roman"/>
                <a:cs typeface="Times New Roman"/>
              </a:rPr>
              <a:t>opt-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in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policies</a:t>
            </a:r>
            <a:r>
              <a:rPr sz="1400" spc="-4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with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clear</a:t>
            </a:r>
            <a:r>
              <a:rPr sz="1400" spc="-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data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usage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explanations. Diverse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training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data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and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continuous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bias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auditing.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810500"/>
          </a:xfrm>
          <a:custGeom>
            <a:avLst/>
            <a:gdLst/>
            <a:ahLst/>
            <a:cxnLst/>
            <a:rect l="l" t="t" r="r" b="b"/>
            <a:pathLst>
              <a:path w="11430000" h="7810500">
                <a:moveTo>
                  <a:pt x="11430000" y="0"/>
                </a:moveTo>
                <a:lnTo>
                  <a:pt x="0" y="0"/>
                </a:lnTo>
                <a:lnTo>
                  <a:pt x="0" y="7810500"/>
                </a:lnTo>
                <a:lnTo>
                  <a:pt x="11430000" y="7810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132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781024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10" dirty="0"/>
              <a:t>Future</a:t>
            </a:r>
            <a:r>
              <a:rPr spc="-15" dirty="0"/>
              <a:t> </a:t>
            </a:r>
            <a:r>
              <a:rPr spc="170" dirty="0"/>
              <a:t>Directions</a:t>
            </a:r>
          </a:p>
        </p:txBody>
      </p:sp>
      <p:sp>
        <p:nvSpPr>
          <p:cNvPr id="7" name="object 7"/>
          <p:cNvSpPr/>
          <p:nvPr/>
        </p:nvSpPr>
        <p:spPr>
          <a:xfrm>
            <a:off x="638175" y="1314449"/>
            <a:ext cx="133350" cy="1647825"/>
          </a:xfrm>
          <a:custGeom>
            <a:avLst/>
            <a:gdLst/>
            <a:ahLst/>
            <a:cxnLst/>
            <a:rect l="l" t="t" r="r" b="b"/>
            <a:pathLst>
              <a:path w="133350" h="1647825">
                <a:moveTo>
                  <a:pt x="113600" y="0"/>
                </a:moveTo>
                <a:lnTo>
                  <a:pt x="19749" y="0"/>
                </a:lnTo>
                <a:lnTo>
                  <a:pt x="16847" y="571"/>
                </a:lnTo>
                <a:lnTo>
                  <a:pt x="0" y="19748"/>
                </a:lnTo>
                <a:lnTo>
                  <a:pt x="0" y="1625053"/>
                </a:lnTo>
                <a:lnTo>
                  <a:pt x="0" y="1628076"/>
                </a:lnTo>
                <a:lnTo>
                  <a:pt x="19749" y="1647825"/>
                </a:lnTo>
                <a:lnTo>
                  <a:pt x="113600" y="1647825"/>
                </a:lnTo>
                <a:lnTo>
                  <a:pt x="133350" y="1628076"/>
                </a:lnTo>
                <a:lnTo>
                  <a:pt x="133350" y="19748"/>
                </a:lnTo>
                <a:lnTo>
                  <a:pt x="116502" y="571"/>
                </a:lnTo>
                <a:lnTo>
                  <a:pt x="113600" y="0"/>
                </a:lnTo>
                <a:close/>
              </a:path>
            </a:pathLst>
          </a:custGeom>
          <a:solidFill>
            <a:srgbClr val="3051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4400" y="3143249"/>
            <a:ext cx="133350" cy="1362075"/>
          </a:xfrm>
          <a:custGeom>
            <a:avLst/>
            <a:gdLst/>
            <a:ahLst/>
            <a:cxnLst/>
            <a:rect l="l" t="t" r="r" b="b"/>
            <a:pathLst>
              <a:path w="133350" h="1362075">
                <a:moveTo>
                  <a:pt x="113600" y="0"/>
                </a:moveTo>
                <a:lnTo>
                  <a:pt x="19749" y="0"/>
                </a:lnTo>
                <a:lnTo>
                  <a:pt x="16847" y="571"/>
                </a:lnTo>
                <a:lnTo>
                  <a:pt x="0" y="19748"/>
                </a:lnTo>
                <a:lnTo>
                  <a:pt x="0" y="1339303"/>
                </a:lnTo>
                <a:lnTo>
                  <a:pt x="0" y="1342326"/>
                </a:lnTo>
                <a:lnTo>
                  <a:pt x="19749" y="1362075"/>
                </a:lnTo>
                <a:lnTo>
                  <a:pt x="113600" y="1362075"/>
                </a:lnTo>
                <a:lnTo>
                  <a:pt x="133350" y="1342326"/>
                </a:lnTo>
                <a:lnTo>
                  <a:pt x="133350" y="19748"/>
                </a:lnTo>
                <a:lnTo>
                  <a:pt x="116502" y="571"/>
                </a:lnTo>
                <a:lnTo>
                  <a:pt x="113600" y="0"/>
                </a:lnTo>
                <a:close/>
              </a:path>
            </a:pathLst>
          </a:custGeom>
          <a:solidFill>
            <a:srgbClr val="3051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81100" y="4686300"/>
            <a:ext cx="142875" cy="1657350"/>
          </a:xfrm>
          <a:custGeom>
            <a:avLst/>
            <a:gdLst/>
            <a:ahLst/>
            <a:cxnLst/>
            <a:rect l="l" t="t" r="r" b="b"/>
            <a:pathLst>
              <a:path w="142875" h="1657350">
                <a:moveTo>
                  <a:pt x="123126" y="0"/>
                </a:moveTo>
                <a:lnTo>
                  <a:pt x="19749" y="0"/>
                </a:lnTo>
                <a:lnTo>
                  <a:pt x="16847" y="571"/>
                </a:lnTo>
                <a:lnTo>
                  <a:pt x="0" y="19748"/>
                </a:lnTo>
                <a:lnTo>
                  <a:pt x="0" y="1634578"/>
                </a:lnTo>
                <a:lnTo>
                  <a:pt x="0" y="1637601"/>
                </a:lnTo>
                <a:lnTo>
                  <a:pt x="19749" y="1657350"/>
                </a:lnTo>
                <a:lnTo>
                  <a:pt x="123126" y="1657350"/>
                </a:lnTo>
                <a:lnTo>
                  <a:pt x="142875" y="1637601"/>
                </a:lnTo>
                <a:lnTo>
                  <a:pt x="142875" y="19748"/>
                </a:lnTo>
                <a:lnTo>
                  <a:pt x="126022" y="571"/>
                </a:lnTo>
                <a:lnTo>
                  <a:pt x="123126" y="0"/>
                </a:lnTo>
                <a:close/>
              </a:path>
            </a:pathLst>
          </a:custGeom>
          <a:solidFill>
            <a:srgbClr val="3051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4881" y="1277937"/>
            <a:ext cx="5765800" cy="59817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2164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F9EEE7"/>
                </a:solidFill>
                <a:latin typeface="Times New Roman"/>
                <a:cs typeface="Times New Roman"/>
              </a:rPr>
              <a:t>AI</a:t>
            </a:r>
            <a:r>
              <a:rPr sz="1650" spc="-6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650" spc="90" dirty="0">
                <a:solidFill>
                  <a:srgbClr val="F9EEE7"/>
                </a:solidFill>
                <a:latin typeface="Times New Roman"/>
                <a:cs typeface="Times New Roman"/>
              </a:rPr>
              <a:t>Integration</a:t>
            </a:r>
            <a:endParaRPr sz="1650">
              <a:latin typeface="Times New Roman"/>
              <a:cs typeface="Times New Roman"/>
            </a:endParaRPr>
          </a:p>
          <a:p>
            <a:pPr marL="422275" marR="105410">
              <a:lnSpc>
                <a:spcPct val="138400"/>
              </a:lnSpc>
              <a:spcBef>
                <a:spcPts val="550"/>
              </a:spcBef>
            </a:pP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Merging</a:t>
            </a:r>
            <a:r>
              <a:rPr sz="1400" spc="-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20" dirty="0">
                <a:solidFill>
                  <a:srgbClr val="F9EEE7"/>
                </a:solidFill>
                <a:latin typeface="Times New Roman"/>
                <a:cs typeface="Times New Roman"/>
              </a:rPr>
              <a:t>emotion</a:t>
            </a:r>
            <a:r>
              <a:rPr sz="1400" spc="-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analysis</a:t>
            </a:r>
            <a:r>
              <a:rPr sz="1400" spc="-4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with</a:t>
            </a:r>
            <a:r>
              <a:rPr sz="1400" spc="-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conversational</a:t>
            </a:r>
            <a:r>
              <a:rPr sz="1400" spc="-7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AI</a:t>
            </a:r>
            <a:r>
              <a:rPr sz="1400" spc="-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for</a:t>
            </a:r>
            <a:r>
              <a:rPr sz="1400" spc="-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empathetic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virtual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9EEE7"/>
                </a:solidFill>
                <a:latin typeface="Times New Roman"/>
                <a:cs typeface="Times New Roman"/>
              </a:rPr>
              <a:t>assistants.</a:t>
            </a:r>
            <a:endParaRPr sz="1400">
              <a:latin typeface="Times New Roman"/>
              <a:cs typeface="Times New Roman"/>
            </a:endParaRPr>
          </a:p>
          <a:p>
            <a:pPr marL="422275" marR="128270">
              <a:lnSpc>
                <a:spcPct val="133900"/>
              </a:lnSpc>
              <a:spcBef>
                <a:spcPts val="900"/>
              </a:spcBef>
            </a:pPr>
            <a:r>
              <a:rPr sz="1400" spc="65" dirty="0">
                <a:solidFill>
                  <a:srgbClr val="F9EEE7"/>
                </a:solidFill>
                <a:latin typeface="Times New Roman"/>
                <a:cs typeface="Times New Roman"/>
              </a:rPr>
              <a:t>Enabling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machines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to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adapt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responses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based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45" dirty="0">
                <a:solidFill>
                  <a:srgbClr val="F9EEE7"/>
                </a:solidFill>
                <a:latin typeface="Times New Roman"/>
                <a:cs typeface="Times New Roman"/>
              </a:rPr>
              <a:t>on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4" dirty="0">
                <a:solidFill>
                  <a:srgbClr val="F9EEE7"/>
                </a:solidFill>
                <a:latin typeface="Times New Roman"/>
                <a:cs typeface="Times New Roman"/>
              </a:rPr>
              <a:t>user</a:t>
            </a:r>
            <a:r>
              <a:rPr sz="1400" spc="-3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emotional </a:t>
            </a:r>
            <a:r>
              <a:rPr sz="1400" spc="50" dirty="0">
                <a:solidFill>
                  <a:srgbClr val="F9EEE7"/>
                </a:solidFill>
                <a:latin typeface="Times New Roman"/>
                <a:cs typeface="Times New Roman"/>
              </a:rPr>
              <a:t>states.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400">
              <a:latin typeface="Times New Roman"/>
              <a:cs typeface="Times New Roman"/>
            </a:endParaRPr>
          </a:p>
          <a:p>
            <a:pPr marL="695325">
              <a:lnSpc>
                <a:spcPct val="100000"/>
              </a:lnSpc>
            </a:pPr>
            <a:r>
              <a:rPr sz="1650" spc="70" dirty="0">
                <a:solidFill>
                  <a:srgbClr val="F9EEE7"/>
                </a:solidFill>
                <a:latin typeface="Times New Roman"/>
                <a:cs typeface="Times New Roman"/>
              </a:rPr>
              <a:t>Medical</a:t>
            </a:r>
            <a:r>
              <a:rPr sz="1650" spc="-5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650" spc="75" dirty="0">
                <a:solidFill>
                  <a:srgbClr val="F9EEE7"/>
                </a:solidFill>
                <a:latin typeface="Times New Roman"/>
                <a:cs typeface="Times New Roman"/>
              </a:rPr>
              <a:t>Applications</a:t>
            </a:r>
            <a:endParaRPr sz="1650">
              <a:latin typeface="Times New Roman"/>
              <a:cs typeface="Times New Roman"/>
            </a:endParaRPr>
          </a:p>
          <a:p>
            <a:pPr marL="695325" marR="57150">
              <a:lnSpc>
                <a:spcPct val="133900"/>
              </a:lnSpc>
              <a:spcBef>
                <a:spcPts val="700"/>
              </a:spcBef>
            </a:pP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Early</a:t>
            </a:r>
            <a:r>
              <a:rPr sz="1400" spc="-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detection</a:t>
            </a:r>
            <a:r>
              <a:rPr sz="1400" spc="3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of</a:t>
            </a:r>
            <a:r>
              <a:rPr sz="1400" spc="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neurological</a:t>
            </a:r>
            <a:r>
              <a:rPr sz="1400" spc="3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conditions</a:t>
            </a:r>
            <a:r>
              <a:rPr sz="1400" spc="3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through</a:t>
            </a:r>
            <a:r>
              <a:rPr sz="1400" spc="3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emotional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biomarkers.</a:t>
            </a:r>
            <a:endParaRPr sz="1400">
              <a:latin typeface="Times New Roman"/>
              <a:cs typeface="Times New Roman"/>
            </a:endParaRPr>
          </a:p>
          <a:p>
            <a:pPr marL="695325">
              <a:lnSpc>
                <a:spcPct val="100000"/>
              </a:lnSpc>
              <a:spcBef>
                <a:spcPts val="1470"/>
              </a:spcBef>
            </a:pP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Remote</a:t>
            </a:r>
            <a:r>
              <a:rPr sz="1400" spc="-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monitoring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for</a:t>
            </a:r>
            <a:r>
              <a:rPr sz="1400" spc="-2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patients</a:t>
            </a:r>
            <a:r>
              <a:rPr sz="1400" spc="-4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with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55" dirty="0">
                <a:solidFill>
                  <a:srgbClr val="F9EEE7"/>
                </a:solidFill>
                <a:latin typeface="Times New Roman"/>
                <a:cs typeface="Times New Roman"/>
              </a:rPr>
              <a:t>mood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F9EEE7"/>
                </a:solidFill>
                <a:latin typeface="Times New Roman"/>
                <a:cs typeface="Times New Roman"/>
              </a:rPr>
              <a:t>disorders.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400">
              <a:latin typeface="Times New Roman"/>
              <a:cs typeface="Times New Roman"/>
            </a:endParaRPr>
          </a:p>
          <a:p>
            <a:pPr marL="969010">
              <a:lnSpc>
                <a:spcPct val="100000"/>
              </a:lnSpc>
            </a:pPr>
            <a:r>
              <a:rPr sz="1650" spc="95" dirty="0">
                <a:solidFill>
                  <a:srgbClr val="F9EEE7"/>
                </a:solidFill>
                <a:latin typeface="Times New Roman"/>
                <a:cs typeface="Times New Roman"/>
              </a:rPr>
              <a:t>Multimodal</a:t>
            </a:r>
            <a:r>
              <a:rPr sz="165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650" spc="90" dirty="0">
                <a:solidFill>
                  <a:srgbClr val="F9EEE7"/>
                </a:solidFill>
                <a:latin typeface="Times New Roman"/>
                <a:cs typeface="Times New Roman"/>
              </a:rPr>
              <a:t>Expansion</a:t>
            </a:r>
            <a:endParaRPr sz="1650">
              <a:latin typeface="Times New Roman"/>
              <a:cs typeface="Times New Roman"/>
            </a:endParaRPr>
          </a:p>
          <a:p>
            <a:pPr marL="969010" marR="391795">
              <a:lnSpc>
                <a:spcPct val="133900"/>
              </a:lnSpc>
              <a:spcBef>
                <a:spcPts val="705"/>
              </a:spcBef>
            </a:pP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Including</a:t>
            </a:r>
            <a:r>
              <a:rPr sz="1400" spc="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9EEE7"/>
                </a:solidFill>
                <a:latin typeface="Times New Roman"/>
                <a:cs typeface="Times New Roman"/>
              </a:rPr>
              <a:t>physiological</a:t>
            </a:r>
            <a:r>
              <a:rPr sz="1400" spc="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9EEE7"/>
                </a:solidFill>
                <a:latin typeface="Times New Roman"/>
                <a:cs typeface="Times New Roman"/>
              </a:rPr>
              <a:t>signals</a:t>
            </a:r>
            <a:r>
              <a:rPr sz="1400" spc="2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like</a:t>
            </a:r>
            <a:r>
              <a:rPr sz="1400" spc="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5" dirty="0">
                <a:solidFill>
                  <a:srgbClr val="F9EEE7"/>
                </a:solidFill>
                <a:latin typeface="Times New Roman"/>
                <a:cs typeface="Times New Roman"/>
              </a:rPr>
              <a:t>heart</a:t>
            </a:r>
            <a:r>
              <a:rPr sz="1400" spc="2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rate</a:t>
            </a:r>
            <a:r>
              <a:rPr sz="1400" spc="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and</a:t>
            </a:r>
            <a:r>
              <a:rPr sz="1400" spc="2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9EEE7"/>
                </a:solidFill>
                <a:latin typeface="Times New Roman"/>
                <a:cs typeface="Times New Roman"/>
              </a:rPr>
              <a:t>skin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conductance.</a:t>
            </a:r>
            <a:endParaRPr sz="1400">
              <a:latin typeface="Times New Roman"/>
              <a:cs typeface="Times New Roman"/>
            </a:endParaRPr>
          </a:p>
          <a:p>
            <a:pPr marL="969010" marR="558800">
              <a:lnSpc>
                <a:spcPct val="138400"/>
              </a:lnSpc>
              <a:spcBef>
                <a:spcPts val="819"/>
              </a:spcBef>
            </a:pP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Developing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context-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aware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systems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that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10" dirty="0">
                <a:solidFill>
                  <a:srgbClr val="F9EEE7"/>
                </a:solidFill>
                <a:latin typeface="Times New Roman"/>
                <a:cs typeface="Times New Roman"/>
              </a:rPr>
              <a:t>understand </a:t>
            </a:r>
            <a:r>
              <a:rPr sz="1400" spc="70" dirty="0">
                <a:solidFill>
                  <a:srgbClr val="F9EEE7"/>
                </a:solidFill>
                <a:latin typeface="Times New Roman"/>
                <a:cs typeface="Times New Roman"/>
              </a:rPr>
              <a:t>situational</a:t>
            </a:r>
            <a:r>
              <a:rPr sz="1400" spc="3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emotions.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38400"/>
              </a:lnSpc>
            </a:pP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The</a:t>
            </a:r>
            <a:r>
              <a:rPr sz="140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future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5" dirty="0">
                <a:solidFill>
                  <a:srgbClr val="F9EEE7"/>
                </a:solidFill>
                <a:latin typeface="Times New Roman"/>
                <a:cs typeface="Times New Roman"/>
              </a:rPr>
              <a:t>holds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tremendous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potential</a:t>
            </a:r>
            <a:r>
              <a:rPr sz="1400" spc="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for</a:t>
            </a:r>
            <a:r>
              <a:rPr sz="1400" spc="-3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emotion-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aware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technologies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9EEE7"/>
                </a:solidFill>
                <a:latin typeface="Times New Roman"/>
                <a:cs typeface="Times New Roman"/>
              </a:rPr>
              <a:t>that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F9EEE7"/>
                </a:solidFill>
                <a:latin typeface="Times New Roman"/>
                <a:cs typeface="Times New Roman"/>
              </a:rPr>
              <a:t>genuinely</a:t>
            </a:r>
            <a:r>
              <a:rPr sz="1400" spc="-2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20" dirty="0">
                <a:solidFill>
                  <a:srgbClr val="F9EEE7"/>
                </a:solidFill>
                <a:latin typeface="Times New Roman"/>
                <a:cs typeface="Times New Roman"/>
              </a:rPr>
              <a:t>understand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30" dirty="0">
                <a:solidFill>
                  <a:srgbClr val="F9EEE7"/>
                </a:solidFill>
                <a:latin typeface="Times New Roman"/>
                <a:cs typeface="Times New Roman"/>
              </a:rPr>
              <a:t>and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25" dirty="0">
                <a:solidFill>
                  <a:srgbClr val="F9EEE7"/>
                </a:solidFill>
                <a:latin typeface="Times New Roman"/>
                <a:cs typeface="Times New Roman"/>
              </a:rPr>
              <a:t>respond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00" dirty="0">
                <a:solidFill>
                  <a:srgbClr val="F9EEE7"/>
                </a:solidFill>
                <a:latin typeface="Times New Roman"/>
                <a:cs typeface="Times New Roman"/>
              </a:rPr>
              <a:t>to</a:t>
            </a:r>
            <a:r>
              <a:rPr sz="1400" spc="10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150" dirty="0">
                <a:solidFill>
                  <a:srgbClr val="F9EEE7"/>
                </a:solidFill>
                <a:latin typeface="Times New Roman"/>
                <a:cs typeface="Times New Roman"/>
              </a:rPr>
              <a:t>human</a:t>
            </a:r>
            <a:r>
              <a:rPr sz="1400" spc="15" dirty="0">
                <a:solidFill>
                  <a:srgbClr val="F9EEE7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F9EEE7"/>
                </a:solidFill>
                <a:latin typeface="Times New Roman"/>
                <a:cs typeface="Times New Roman"/>
              </a:rPr>
              <a:t>needs.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6700"/>
            <a:ext cx="10210800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50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0500"/>
            <a:ext cx="11201400" cy="800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82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681</TotalTime>
  <Words>461</Words>
  <Application>Microsoft Office PowerPoint</Application>
  <PresentationFormat>Custom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Times New Roman</vt:lpstr>
      <vt:lpstr>Office Theme</vt:lpstr>
      <vt:lpstr>    EMOTION ANALYZER</vt:lpstr>
      <vt:lpstr>PowerPoint Presentation</vt:lpstr>
      <vt:lpstr>The Science Behind Emotions</vt:lpstr>
      <vt:lpstr>How Emotion Analyzers Work</vt:lpstr>
      <vt:lpstr>Key Applications</vt:lpstr>
      <vt:lpstr>Our Implementation</vt:lpstr>
      <vt:lpstr>Experimental Results</vt:lpstr>
      <vt:lpstr>Ethical Considerations</vt:lpstr>
      <vt:lpstr>Future Directions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kapil dev malhi</cp:lastModifiedBy>
  <cp:revision>8</cp:revision>
  <dcterms:created xsi:type="dcterms:W3CDTF">2025-05-15T18:28:37Z</dcterms:created>
  <dcterms:modified xsi:type="dcterms:W3CDTF">2025-05-20T18:42:57Z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2025-05-02T00:00:00Z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2025-05-15T00:00:00Z</vt:filetime>
  </property>
  <property fmtid="{D5CDD505-2E9C-101B-9397-08002B2CF9AE}" pid="5" name="Producer">
    <vt:lpwstr>GPL Ghostscript 9.56.1</vt:lpwstr>
  </property>
</Properties>
</file>